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E035-CAE0-479A-9E61-8910387E07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5A0CFB-5458-461B-8403-2371A8CE98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FB0E3A-301A-4B99-9240-F4B07F45C00E}"/>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5" name="Footer Placeholder 4">
            <a:extLst>
              <a:ext uri="{FF2B5EF4-FFF2-40B4-BE49-F238E27FC236}">
                <a16:creationId xmlns:a16="http://schemas.microsoft.com/office/drawing/2014/main" id="{A48562C6-23BC-4BFF-826E-419ACF8BF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4757F-53FC-476C-B332-9EC5B852D636}"/>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2217105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FB38-A683-4CD9-BAA0-5817F0DE32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1DF988-9324-4CAF-958A-017A2B1436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89DD9E-D1B8-429E-8351-2615B4D4A302}"/>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5" name="Footer Placeholder 4">
            <a:extLst>
              <a:ext uri="{FF2B5EF4-FFF2-40B4-BE49-F238E27FC236}">
                <a16:creationId xmlns:a16="http://schemas.microsoft.com/office/drawing/2014/main" id="{5B33311D-D710-4398-A247-1628B09686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7120EA-BBC2-4E51-A1F5-F2838CF20D91}"/>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3470869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2EB12-4A68-4BA2-A19D-8C813F388C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1D9BD2-5C94-4B94-ACF3-E3C037B933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EC773F-CFBA-4ADB-A786-084882D6DC4F}"/>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5" name="Footer Placeholder 4">
            <a:extLst>
              <a:ext uri="{FF2B5EF4-FFF2-40B4-BE49-F238E27FC236}">
                <a16:creationId xmlns:a16="http://schemas.microsoft.com/office/drawing/2014/main" id="{AFDF0DBD-D477-4D6C-B988-2634B8880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717C4-5FC4-4804-B16B-26A321558993}"/>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2977220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6CD2A-7C3F-4F43-89BE-31BB3A1E2F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8FB633-F331-4BD7-BFB9-E3C3424F90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37F42C-6EBB-47B6-8645-557B7B88A8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776CCF-BAA0-4747-B489-E7F17EB8CD55}"/>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6" name="Footer Placeholder 5">
            <a:extLst>
              <a:ext uri="{FF2B5EF4-FFF2-40B4-BE49-F238E27FC236}">
                <a16:creationId xmlns:a16="http://schemas.microsoft.com/office/drawing/2014/main" id="{C650CED3-D76B-4982-99C2-D1F9D9CC53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724883-EEB0-487B-92C4-E61CA818C21C}"/>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1857136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9B300-C15C-4032-B0F6-6C32446EE6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4BCC94-5CB0-4F4A-9692-BC2483E1DC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E6B13-2618-4CC6-AF6B-DBA9378CEC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F261D9-335F-45B2-9278-60A3D7F4F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8BDE9B-FA96-4856-8572-5AFAA6FF69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E9D7B1-1DA7-4BFF-9006-8E2D9857B9B5}"/>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8" name="Footer Placeholder 7">
            <a:extLst>
              <a:ext uri="{FF2B5EF4-FFF2-40B4-BE49-F238E27FC236}">
                <a16:creationId xmlns:a16="http://schemas.microsoft.com/office/drawing/2014/main" id="{86554B44-11D2-4CE5-8E65-84325276E4C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477556-2453-41DC-8841-BE892189F69C}"/>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3881355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E14E6-005F-433E-876F-45F18CB9DD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9E7D25-4E6B-48B7-978C-74BB3E1108CC}"/>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4" name="Footer Placeholder 3">
            <a:extLst>
              <a:ext uri="{FF2B5EF4-FFF2-40B4-BE49-F238E27FC236}">
                <a16:creationId xmlns:a16="http://schemas.microsoft.com/office/drawing/2014/main" id="{1A68AE6C-DF60-4B7E-AF29-E1BCA4ABE6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1BE772-6F80-4A2B-A405-966CD23F3AC5}"/>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3198789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BB024F-87AE-4B84-A5C8-09EF6AD6413F}"/>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3" name="Footer Placeholder 2">
            <a:extLst>
              <a:ext uri="{FF2B5EF4-FFF2-40B4-BE49-F238E27FC236}">
                <a16:creationId xmlns:a16="http://schemas.microsoft.com/office/drawing/2014/main" id="{149147A3-DC0C-4333-91AA-2D6197DF5E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237983-1999-4585-98BD-FADB0DDE2413}"/>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4079069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AE262-6482-4BAE-91CE-875FD110AB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17AAB2-89E7-4E8B-B2DC-3A3D959988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DBD5BD-E7A2-4234-B8D3-73333F9E0D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E462C-F472-4201-A634-1C7CF631008D}"/>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6" name="Footer Placeholder 5">
            <a:extLst>
              <a:ext uri="{FF2B5EF4-FFF2-40B4-BE49-F238E27FC236}">
                <a16:creationId xmlns:a16="http://schemas.microsoft.com/office/drawing/2014/main" id="{1702A591-2D96-47EE-B6E7-086DFF165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488E7-7650-4E21-9D0D-B7647C06C57E}"/>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566349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0C7B-FB7D-4A9C-8548-C8ECDB5770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AEF0879-1F03-490D-A080-448AA0ACEE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261332-87C7-4E14-BD83-119C1296C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D694EA-EB40-4E1A-8F3C-2C6E9578C64C}"/>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6" name="Footer Placeholder 5">
            <a:extLst>
              <a:ext uri="{FF2B5EF4-FFF2-40B4-BE49-F238E27FC236}">
                <a16:creationId xmlns:a16="http://schemas.microsoft.com/office/drawing/2014/main" id="{6ADA292D-7074-4C81-BC35-BF41BDB9F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375A8-FFAF-4817-9BF4-906618A8BF27}"/>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4103209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5F677-3566-408C-A6E2-B970515663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EB64B8-B623-4BD3-AE17-A5442E833C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A9B236-47BE-447F-8702-697109629891}"/>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5" name="Footer Placeholder 4">
            <a:extLst>
              <a:ext uri="{FF2B5EF4-FFF2-40B4-BE49-F238E27FC236}">
                <a16:creationId xmlns:a16="http://schemas.microsoft.com/office/drawing/2014/main" id="{08C0A0B3-ECFE-4F66-B73F-6C6B7B212A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5CCE7E-AC45-491D-9A26-ECE3389EC1F4}"/>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2370653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C43D1A-C597-48F0-B263-EC40FC2C32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D5696D-3D3F-4513-8756-FF9F9A6FAE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A2C89-FAFC-49D0-BE3D-C31B53CF6A13}"/>
              </a:ext>
            </a:extLst>
          </p:cNvPr>
          <p:cNvSpPr>
            <a:spLocks noGrp="1"/>
          </p:cNvSpPr>
          <p:nvPr>
            <p:ph type="dt" sz="half" idx="10"/>
          </p:nvPr>
        </p:nvSpPr>
        <p:spPr/>
        <p:txBody>
          <a:bodyPr/>
          <a:lstStyle/>
          <a:p>
            <a:fld id="{C7CB2692-2A85-4091-8AFB-40FC582288A3}" type="datetimeFigureOut">
              <a:rPr lang="en-US" smtClean="0"/>
              <a:t>5/19/2026</a:t>
            </a:fld>
            <a:endParaRPr lang="en-US"/>
          </a:p>
        </p:txBody>
      </p:sp>
      <p:sp>
        <p:nvSpPr>
          <p:cNvPr id="5" name="Footer Placeholder 4">
            <a:extLst>
              <a:ext uri="{FF2B5EF4-FFF2-40B4-BE49-F238E27FC236}">
                <a16:creationId xmlns:a16="http://schemas.microsoft.com/office/drawing/2014/main" id="{FBD621CB-C626-47B6-84C8-E93F2CE6F3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6A101-6CD1-4FFC-A49D-0F8C6500BF17}"/>
              </a:ext>
            </a:extLst>
          </p:cNvPr>
          <p:cNvSpPr>
            <a:spLocks noGrp="1"/>
          </p:cNvSpPr>
          <p:nvPr>
            <p:ph type="sldNum" sz="quarter" idx="12"/>
          </p:nvPr>
        </p:nvSpPr>
        <p:spPr/>
        <p:txBody>
          <a:bodyPr/>
          <a:lstStyle/>
          <a:p>
            <a:fld id="{AE6C9831-9BF1-482B-A427-A11799495B1D}" type="slidenum">
              <a:rPr lang="en-US" smtClean="0"/>
              <a:t>‹#›</a:t>
            </a:fld>
            <a:endParaRPr lang="en-US"/>
          </a:p>
        </p:txBody>
      </p:sp>
    </p:spTree>
    <p:extLst>
      <p:ext uri="{BB962C8B-B14F-4D97-AF65-F5344CB8AC3E}">
        <p14:creationId xmlns:p14="http://schemas.microsoft.com/office/powerpoint/2010/main" val="1940907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789CBE-4B7A-4AA7-B159-0DE6B0112A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4DC02E-006C-4CB3-A639-0C64E5E704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010D82-CC7F-4A0B-8D96-636852F22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CB2692-2A85-4091-8AFB-40FC582288A3}" type="datetimeFigureOut">
              <a:rPr lang="en-US" smtClean="0"/>
              <a:t>5/19/2026</a:t>
            </a:fld>
            <a:endParaRPr lang="en-US"/>
          </a:p>
        </p:txBody>
      </p:sp>
      <p:sp>
        <p:nvSpPr>
          <p:cNvPr id="5" name="Footer Placeholder 4">
            <a:extLst>
              <a:ext uri="{FF2B5EF4-FFF2-40B4-BE49-F238E27FC236}">
                <a16:creationId xmlns:a16="http://schemas.microsoft.com/office/drawing/2014/main" id="{52BF0C7E-D3BF-4D8D-9B77-01447C07CB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061742-1F22-435A-859A-FC314E052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6C9831-9BF1-482B-A427-A11799495B1D}" type="slidenum">
              <a:rPr lang="en-US" smtClean="0"/>
              <a:t>‹#›</a:t>
            </a:fld>
            <a:endParaRPr lang="en-US"/>
          </a:p>
        </p:txBody>
      </p:sp>
    </p:spTree>
    <p:extLst>
      <p:ext uri="{BB962C8B-B14F-4D97-AF65-F5344CB8AC3E}">
        <p14:creationId xmlns:p14="http://schemas.microsoft.com/office/powerpoint/2010/main" val="321735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6F017-6750-41EB-BF28-DD5389F41317}"/>
              </a:ext>
            </a:extLst>
          </p:cNvPr>
          <p:cNvSpPr>
            <a:spLocks noGrp="1"/>
          </p:cNvSpPr>
          <p:nvPr>
            <p:ph type="ctrTitle"/>
          </p:nvPr>
        </p:nvSpPr>
        <p:spPr/>
        <p:txBody>
          <a:bodyPr/>
          <a:lstStyle/>
          <a:p>
            <a:r>
              <a:rPr lang="en-US" dirty="0"/>
              <a:t>TECHTROOPS DAY2</a:t>
            </a:r>
          </a:p>
        </p:txBody>
      </p:sp>
      <p:sp>
        <p:nvSpPr>
          <p:cNvPr id="3" name="Subtitle 2">
            <a:extLst>
              <a:ext uri="{FF2B5EF4-FFF2-40B4-BE49-F238E27FC236}">
                <a16:creationId xmlns:a16="http://schemas.microsoft.com/office/drawing/2014/main" id="{3D1D5DFE-CB6B-4F73-8367-3E93A0BBAAC9}"/>
              </a:ext>
            </a:extLst>
          </p:cNvPr>
          <p:cNvSpPr>
            <a:spLocks noGrp="1"/>
          </p:cNvSpPr>
          <p:nvPr>
            <p:ph type="subTitle" idx="1"/>
          </p:nvPr>
        </p:nvSpPr>
        <p:spPr/>
        <p:txBody>
          <a:bodyPr/>
          <a:lstStyle/>
          <a:p>
            <a:r>
              <a:rPr lang="en-US" dirty="0"/>
              <a:t>TABLES AND UPDATED SETS</a:t>
            </a:r>
          </a:p>
        </p:txBody>
      </p:sp>
    </p:spTree>
    <p:extLst>
      <p:ext uri="{BB962C8B-B14F-4D97-AF65-F5344CB8AC3E}">
        <p14:creationId xmlns:p14="http://schemas.microsoft.com/office/powerpoint/2010/main" val="547992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0EB38-AC2F-4214-A3B2-9079AE073411}"/>
              </a:ext>
            </a:extLst>
          </p:cNvPr>
          <p:cNvSpPr>
            <a:spLocks noGrp="1"/>
          </p:cNvSpPr>
          <p:nvPr>
            <p:ph type="title"/>
          </p:nvPr>
        </p:nvSpPr>
        <p:spPr/>
        <p:txBody>
          <a:bodyPr/>
          <a:lstStyle/>
          <a:p>
            <a:r>
              <a:rPr lang="en-GB" sz="2000" b="1" dirty="0">
                <a:solidFill>
                  <a:srgbClr val="28438F"/>
                </a:solidFill>
                <a:effectLst/>
                <a:latin typeface="Arial" panose="020B0604020202020204" pitchFamily="34" charset="0"/>
                <a:ea typeface="Arial" panose="020B0604020202020204" pitchFamily="34" charset="0"/>
              </a:rPr>
              <a:t>Tables &amp; </a:t>
            </a:r>
            <a:r>
              <a:rPr lang="en-GB" sz="1800" b="1" dirty="0">
                <a:solidFill>
                  <a:srgbClr val="28438F"/>
                </a:solidFill>
                <a:effectLst/>
                <a:latin typeface="Arial" panose="020B0604020202020204" pitchFamily="34" charset="0"/>
                <a:ea typeface="Arial" panose="020B0604020202020204" pitchFamily="34" charset="0"/>
              </a:rPr>
              <a:t>Update sets:</a:t>
            </a:r>
            <a:br>
              <a:rPr lang="en-US" sz="1800" dirty="0">
                <a:effectLst/>
                <a:latin typeface="Arial" panose="020B0604020202020204" pitchFamily="34" charset="0"/>
                <a:ea typeface="Arial" panose="020B0604020202020204" pitchFamily="34" charset="0"/>
              </a:rPr>
            </a:br>
            <a:br>
              <a:rPr lang="en-US" sz="1800" dirty="0">
                <a:effectLst/>
                <a:latin typeface="Arial" panose="020B0604020202020204" pitchFamily="34" charset="0"/>
                <a:ea typeface="Arial" panose="020B0604020202020204" pitchFamily="34" charset="0"/>
              </a:rPr>
            </a:br>
            <a:endParaRPr lang="en-US" dirty="0"/>
          </a:p>
        </p:txBody>
      </p:sp>
      <p:sp>
        <p:nvSpPr>
          <p:cNvPr id="3" name="Content Placeholder 2">
            <a:extLst>
              <a:ext uri="{FF2B5EF4-FFF2-40B4-BE49-F238E27FC236}">
                <a16:creationId xmlns:a16="http://schemas.microsoft.com/office/drawing/2014/main" id="{D6CAD982-B6A1-4390-AE37-F8E0FE01BEBA}"/>
              </a:ext>
            </a:extLst>
          </p:cNvPr>
          <p:cNvSpPr>
            <a:spLocks noGrp="1"/>
          </p:cNvSpPr>
          <p:nvPr>
            <p:ph idx="1"/>
          </p:nvPr>
        </p:nvSpPr>
        <p:spPr>
          <a:xfrm>
            <a:off x="286871" y="699248"/>
            <a:ext cx="11066929" cy="5477716"/>
          </a:xfrm>
        </p:spPr>
        <p:txBody>
          <a:bodyPr>
            <a:normAutofit fontScale="25000" lnSpcReduction="20000"/>
          </a:bodyPr>
          <a:lstStyle/>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table with all field types and observe the functionality of all fields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table by Replicating Incident table </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2 custom tables to extend the other table</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Observe the schema map of different tables.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2 choice fields: </a:t>
            </a:r>
            <a:r>
              <a:rPr lang="en-GB" sz="3200" b="1" u="none" strike="noStrike" dirty="0" err="1">
                <a:effectLst/>
                <a:latin typeface="Arial" panose="020B0604020202020204" pitchFamily="34" charset="0"/>
                <a:ea typeface="Arial" panose="020B0604020202020204" pitchFamily="34" charset="0"/>
              </a:rPr>
              <a:t>country,state</a:t>
            </a:r>
            <a:r>
              <a:rPr lang="en-GB" sz="3200" b="1" u="none" strike="noStrike" dirty="0">
                <a:effectLst/>
                <a:latin typeface="Arial" panose="020B0604020202020204" pitchFamily="34" charset="0"/>
                <a:ea typeface="Arial" panose="020B0604020202020204" pitchFamily="34" charset="0"/>
              </a:rPr>
              <a:t> add the choices and check the dependency.</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Check the dot walking for the caller and assigned to fields in the incident table</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filter of software category records to visible software groups.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filter 'active </a:t>
            </a:r>
            <a:r>
              <a:rPr lang="en-GB" sz="3200" b="1" u="none" strike="noStrike" dirty="0" err="1">
                <a:effectLst/>
                <a:latin typeface="Arial" panose="020B0604020202020204" pitchFamily="34" charset="0"/>
                <a:ea typeface="Arial" panose="020B0604020202020204" pitchFamily="34" charset="0"/>
              </a:rPr>
              <a:t>true,category</a:t>
            </a:r>
            <a:r>
              <a:rPr lang="en-GB" sz="3200" b="1" u="none" strike="noStrike" dirty="0">
                <a:effectLst/>
                <a:latin typeface="Arial" panose="020B0604020202020204" pitchFamily="34" charset="0"/>
                <a:ea typeface="Arial" panose="020B0604020202020204" pitchFamily="34" charset="0"/>
              </a:rPr>
              <a:t> </a:t>
            </a:r>
            <a:r>
              <a:rPr lang="en-GB" sz="3200" b="1" u="none" strike="noStrike" dirty="0" err="1">
                <a:effectLst/>
                <a:latin typeface="Arial" panose="020B0604020202020204" pitchFamily="34" charset="0"/>
                <a:ea typeface="Arial" panose="020B0604020202020204" pitchFamily="34" charset="0"/>
              </a:rPr>
              <a:t>network,state</a:t>
            </a:r>
            <a:r>
              <a:rPr lang="en-GB" sz="3200" b="1" u="none" strike="noStrike" dirty="0">
                <a:effectLst/>
                <a:latin typeface="Arial" panose="020B0604020202020204" pitchFamily="34" charset="0"/>
                <a:ea typeface="Arial" panose="020B0604020202020204" pitchFamily="34" charset="0"/>
              </a:rPr>
              <a:t> new. and make it visible to everyone.</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dot walking in the incident for caller, Assignment </a:t>
            </a:r>
            <a:r>
              <a:rPr lang="en-GB" sz="3200" b="1" u="none" strike="noStrike" dirty="0" err="1">
                <a:effectLst/>
                <a:latin typeface="Arial" panose="020B0604020202020204" pitchFamily="34" charset="0"/>
                <a:ea typeface="Arial" panose="020B0604020202020204" pitchFamily="34" charset="0"/>
              </a:rPr>
              <a:t>group,Configuration</a:t>
            </a:r>
            <a:r>
              <a:rPr lang="en-GB" sz="3200" b="1" u="none" strike="noStrike" dirty="0">
                <a:effectLst/>
                <a:latin typeface="Arial" panose="020B0604020202020204" pitchFamily="34" charset="0"/>
                <a:ea typeface="Arial" panose="020B0604020202020204" pitchFamily="34" charset="0"/>
              </a:rPr>
              <a:t> item.</a:t>
            </a:r>
            <a:endParaRPr lang="en-US" sz="32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 caller - mail, Mobile </a:t>
            </a:r>
            <a:r>
              <a:rPr lang="en-GB" sz="3200" b="1" dirty="0" err="1">
                <a:effectLst/>
                <a:latin typeface="Arial" panose="020B0604020202020204" pitchFamily="34" charset="0"/>
                <a:ea typeface="Arial" panose="020B0604020202020204" pitchFamily="34" charset="0"/>
              </a:rPr>
              <a:t>phone,Manager</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 Assignment group - Description, manager </a:t>
            </a:r>
            <a:endParaRPr lang="en-US" sz="32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            configuration item - Location, Assigned </a:t>
            </a:r>
            <a:r>
              <a:rPr lang="en-GB" sz="3200" b="1" dirty="0" err="1">
                <a:effectLst/>
                <a:latin typeface="Arial" panose="020B0604020202020204" pitchFamily="34" charset="0"/>
                <a:ea typeface="Arial" panose="020B0604020202020204" pitchFamily="34" charset="0"/>
              </a:rPr>
              <a:t>to,Model</a:t>
            </a:r>
            <a:r>
              <a:rPr lang="en-GB" sz="3200" b="1" dirty="0">
                <a:effectLst/>
                <a:latin typeface="Arial" panose="020B0604020202020204" pitchFamily="34" charset="0"/>
                <a:ea typeface="Arial" panose="020B0604020202020204" pitchFamily="34" charset="0"/>
              </a:rPr>
              <a:t> ID. </a:t>
            </a:r>
            <a:endParaRPr lang="en-US" sz="32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filter without the network category, and the state is new or in progress and make it visible to the hardware group .</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Observe the Schema map.</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Observe the dictionary override functionality.</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filter with a state new and Category network this filter should be visible only to the users Part of the network group.</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1. Create 2 tables named as copy of incident, copy of user same like OOB user and incident form.</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2. Create a table by unchecking the create module checkbox and observe the functionality</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3. Create a table by adding to the existing incident application.</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4. Create fields by using form layout, form design and form builder</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5. check the functionality of these field types Field types: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err="1">
                <a:effectLst/>
                <a:latin typeface="Arial" panose="020B0604020202020204" pitchFamily="34" charset="0"/>
                <a:ea typeface="Arial" panose="020B0604020202020204" pitchFamily="34" charset="0"/>
              </a:rPr>
              <a:t>String,reference,choice,list,image,url,wiki,date,date</a:t>
            </a:r>
            <a:r>
              <a:rPr lang="en-GB" sz="3200" b="1" u="none" strike="noStrike" dirty="0">
                <a:effectLst/>
                <a:latin typeface="Arial" panose="020B0604020202020204" pitchFamily="34" charset="0"/>
                <a:ea typeface="Arial" panose="020B0604020202020204" pitchFamily="34" charset="0"/>
              </a:rPr>
              <a:t>/</a:t>
            </a:r>
            <a:r>
              <a:rPr lang="en-GB" sz="3200" b="1" u="none" strike="noStrike" dirty="0" err="1">
                <a:effectLst/>
                <a:latin typeface="Arial" panose="020B0604020202020204" pitchFamily="34" charset="0"/>
                <a:ea typeface="Arial" panose="020B0604020202020204" pitchFamily="34" charset="0"/>
              </a:rPr>
              <a:t>time,true</a:t>
            </a:r>
            <a:r>
              <a:rPr lang="en-GB" sz="3200" b="1" u="none" strike="noStrike" dirty="0">
                <a:effectLst/>
                <a:latin typeface="Arial" panose="020B0604020202020204" pitchFamily="34" charset="0"/>
                <a:ea typeface="Arial" panose="020B0604020202020204" pitchFamily="34" charset="0"/>
              </a:rPr>
              <a:t>/</a:t>
            </a:r>
            <a:r>
              <a:rPr lang="en-GB" sz="3200" b="1" u="none" strike="noStrike" dirty="0" err="1">
                <a:effectLst/>
                <a:latin typeface="Arial" panose="020B0604020202020204" pitchFamily="34" charset="0"/>
                <a:ea typeface="Arial" panose="020B0604020202020204" pitchFamily="34" charset="0"/>
              </a:rPr>
              <a:t>false,currency</a:t>
            </a:r>
            <a:r>
              <a:rPr lang="en-GB" sz="3200" b="1" u="none" strike="noStrike" dirty="0">
                <a:effectLst/>
                <a:latin typeface="Arial" panose="020B0604020202020204" pitchFamily="34" charset="0"/>
                <a:ea typeface="Arial" panose="020B0604020202020204" pitchFamily="34" charset="0"/>
              </a:rPr>
              <a:t> create fields in 3 ways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dependency On the table create two choice fields Operating system and </a:t>
            </a:r>
            <a:r>
              <a:rPr lang="en-GB" sz="3200" b="1" u="none" strike="noStrike" dirty="0" err="1">
                <a:effectLst/>
                <a:latin typeface="Arial" panose="020B0604020202020204" pitchFamily="34" charset="0"/>
                <a:ea typeface="Arial" panose="020B0604020202020204" pitchFamily="34" charset="0"/>
              </a:rPr>
              <a:t>Os</a:t>
            </a:r>
            <a:r>
              <a:rPr lang="en-GB" sz="3200" b="1" u="none" strike="noStrike" dirty="0">
                <a:effectLst/>
                <a:latin typeface="Arial" panose="020B0604020202020204" pitchFamily="34" charset="0"/>
                <a:ea typeface="Arial" panose="020B0604020202020204" pitchFamily="34" charset="0"/>
              </a:rPr>
              <a:t> Versions</a:t>
            </a:r>
            <a:endParaRPr lang="en-US" sz="3200" u="none" strike="noStrike"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Operating system - </a:t>
            </a:r>
            <a:r>
              <a:rPr lang="en-GB" sz="3200" b="1" dirty="0" err="1">
                <a:effectLst/>
                <a:latin typeface="Arial" panose="020B0604020202020204" pitchFamily="34" charset="0"/>
                <a:ea typeface="Arial" panose="020B0604020202020204" pitchFamily="34" charset="0"/>
              </a:rPr>
              <a:t>Windows,Ubuntu,Linux,Mac</a:t>
            </a:r>
            <a:r>
              <a:rPr lang="en-GB" sz="3200" b="1" dirty="0">
                <a:effectLst/>
                <a:latin typeface="Arial" panose="020B0604020202020204" pitchFamily="34" charset="0"/>
                <a:ea typeface="Arial" panose="020B0604020202020204" pitchFamily="34" charset="0"/>
              </a:rPr>
              <a:t> OS .</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OS Versions : 2007,windows10,windows11,Ubuntu 21.10,Ubuntu 20.04.3 </a:t>
            </a:r>
            <a:r>
              <a:rPr lang="en-GB" sz="3200" b="1" dirty="0" err="1">
                <a:effectLst/>
                <a:latin typeface="Arial" panose="020B0604020202020204" pitchFamily="34" charset="0"/>
                <a:ea typeface="Arial" panose="020B0604020202020204" pitchFamily="34" charset="0"/>
              </a:rPr>
              <a:t>LTS,Gentoo,Debian,Big</a:t>
            </a:r>
            <a:r>
              <a:rPr lang="en-GB" sz="3200" b="1" dirty="0">
                <a:effectLst/>
                <a:latin typeface="Arial" panose="020B0604020202020204" pitchFamily="34" charset="0"/>
                <a:ea typeface="Arial" panose="020B0604020202020204" pitchFamily="34" charset="0"/>
              </a:rPr>
              <a:t> </a:t>
            </a:r>
            <a:r>
              <a:rPr lang="en-GB" sz="3200" b="1" dirty="0" err="1">
                <a:effectLst/>
                <a:latin typeface="Arial" panose="020B0604020202020204" pitchFamily="34" charset="0"/>
                <a:ea typeface="Arial" panose="020B0604020202020204" pitchFamily="34" charset="0"/>
              </a:rPr>
              <a:t>Sur,Monterey</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for selection of </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Unicode MS"/>
                <a:ea typeface="Arial Unicode MS"/>
                <a:cs typeface="Arial Unicode MS"/>
              </a:rPr>
              <a:t>⇒ Windows -2007,windows10,windows11</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Unicode MS"/>
                <a:ea typeface="Arial Unicode MS"/>
                <a:cs typeface="Arial Unicode MS"/>
              </a:rPr>
              <a:t>⇒ Ubuntu - Ubuntu 21.10,Ubuntu 20.04.3 LTS,</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Unicode MS"/>
                <a:ea typeface="Arial Unicode MS"/>
                <a:cs typeface="Arial Unicode MS"/>
              </a:rPr>
              <a:t>⇒ Linux - </a:t>
            </a:r>
            <a:r>
              <a:rPr lang="en-GB" sz="3200" b="1" dirty="0" err="1">
                <a:effectLst/>
                <a:latin typeface="Arial Unicode MS"/>
                <a:ea typeface="Arial Unicode MS"/>
                <a:cs typeface="Arial Unicode MS"/>
              </a:rPr>
              <a:t>Gentoo,Debian</a:t>
            </a:r>
            <a:r>
              <a:rPr lang="en-GB" sz="3200" b="1" dirty="0">
                <a:effectLst/>
                <a:latin typeface="Arial Unicode MS"/>
                <a:ea typeface="Arial Unicode MS"/>
                <a:cs typeface="Arial Unicode MS"/>
              </a:rPr>
              <a:t>,</a:t>
            </a:r>
            <a:endParaRPr lang="en-US" sz="3200" dirty="0">
              <a:effectLst/>
              <a:latin typeface="Arial" panose="020B0604020202020204" pitchFamily="34" charset="0"/>
              <a:ea typeface="Arial" panose="020B0604020202020204" pitchFamily="34" charset="0"/>
            </a:endParaRPr>
          </a:p>
          <a:p>
            <a:pPr marL="457200" marR="0">
              <a:lnSpc>
                <a:spcPct val="125000"/>
              </a:lnSpc>
              <a:spcBef>
                <a:spcPts val="0"/>
              </a:spcBef>
              <a:spcAft>
                <a:spcPts val="0"/>
              </a:spcAft>
            </a:pPr>
            <a:r>
              <a:rPr lang="en-GB" sz="3200" b="1" dirty="0">
                <a:effectLst/>
                <a:latin typeface="Arial" panose="020B0604020202020204" pitchFamily="34" charset="0"/>
                <a:ea typeface="Arial" panose="020B0604020202020204" pitchFamily="34" charset="0"/>
              </a:rPr>
              <a:t>=&gt;Mac OS - Big </a:t>
            </a:r>
            <a:r>
              <a:rPr lang="en-GB" sz="3200" b="1" dirty="0" err="1">
                <a:effectLst/>
                <a:latin typeface="Arial" panose="020B0604020202020204" pitchFamily="34" charset="0"/>
                <a:ea typeface="Arial" panose="020B0604020202020204" pitchFamily="34" charset="0"/>
              </a:rPr>
              <a:t>Sur,Monterey</a:t>
            </a:r>
            <a:endParaRPr lang="en-US" sz="32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dot walking in the incident for caller, Assignment </a:t>
            </a:r>
            <a:r>
              <a:rPr lang="en-GB" sz="3200" b="1" u="none" strike="noStrike" dirty="0" err="1">
                <a:effectLst/>
                <a:latin typeface="Arial" panose="020B0604020202020204" pitchFamily="34" charset="0"/>
                <a:ea typeface="Arial" panose="020B0604020202020204" pitchFamily="34" charset="0"/>
              </a:rPr>
              <a:t>group,Configuration</a:t>
            </a:r>
            <a:r>
              <a:rPr lang="en-GB" sz="3200" b="1" u="none" strike="noStrike" dirty="0">
                <a:effectLst/>
                <a:latin typeface="Arial" panose="020B0604020202020204" pitchFamily="34" charset="0"/>
                <a:ea typeface="Arial" panose="020B0604020202020204" pitchFamily="34" charset="0"/>
              </a:rPr>
              <a:t> item.</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 caller - mail, Mobile </a:t>
            </a:r>
            <a:r>
              <a:rPr lang="en-GB" sz="3200" b="1" u="none" strike="noStrike" dirty="0" err="1">
                <a:effectLst/>
                <a:latin typeface="Arial" panose="020B0604020202020204" pitchFamily="34" charset="0"/>
                <a:ea typeface="Arial" panose="020B0604020202020204" pitchFamily="34" charset="0"/>
              </a:rPr>
              <a:t>phone,Manager</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Assignment group - Description, manager </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configuration item - Location, Assigned </a:t>
            </a:r>
            <a:r>
              <a:rPr lang="en-GB" sz="3200" b="1" u="none" strike="noStrike" dirty="0" err="1">
                <a:effectLst/>
                <a:latin typeface="Arial" panose="020B0604020202020204" pitchFamily="34" charset="0"/>
                <a:ea typeface="Arial" panose="020B0604020202020204" pitchFamily="34" charset="0"/>
              </a:rPr>
              <a:t>to,Model</a:t>
            </a:r>
            <a:r>
              <a:rPr lang="en-GB" sz="3200" b="1" u="none" strike="noStrike" dirty="0">
                <a:effectLst/>
                <a:latin typeface="Arial" panose="020B0604020202020204" pitchFamily="34" charset="0"/>
                <a:ea typeface="Arial" panose="020B0604020202020204" pitchFamily="34" charset="0"/>
              </a:rPr>
              <a:t> ID. </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 filter without the network category, and the state is new or in progress and make it visible to the hardware group .</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one table named as Brillio Parent with (name(string-display-true),Phone(string-</a:t>
            </a:r>
            <a:r>
              <a:rPr lang="en-GB" sz="3200" b="1" u="none" strike="noStrike" dirty="0" err="1">
                <a:effectLst/>
                <a:latin typeface="Arial" panose="020B0604020202020204" pitchFamily="34" charset="0"/>
                <a:ea typeface="Arial" panose="020B0604020202020204" pitchFamily="34" charset="0"/>
              </a:rPr>
              <a:t>readonly</a:t>
            </a:r>
            <a:r>
              <a:rPr lang="en-GB" sz="3200" b="1" u="none" strike="noStrike" dirty="0">
                <a:effectLst/>
                <a:latin typeface="Arial" panose="020B0604020202020204" pitchFamily="34" charset="0"/>
                <a:ea typeface="Arial" panose="020B0604020202020204" pitchFamily="34" charset="0"/>
              </a:rPr>
              <a:t>),Manager(reference-user-mandatory),Email</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2 child tables Brillio child1, Brillio child2, check the functionality by extending </a:t>
            </a:r>
            <a:r>
              <a:rPr lang="en-GB" sz="3200" b="1" u="none" strike="noStrike" dirty="0" err="1">
                <a:effectLst/>
                <a:latin typeface="Arial" panose="020B0604020202020204" pitchFamily="34" charset="0"/>
                <a:ea typeface="Arial" panose="020B0604020202020204" pitchFamily="34" charset="0"/>
              </a:rPr>
              <a:t>brillio</a:t>
            </a:r>
            <a:r>
              <a:rPr lang="en-GB" sz="3200" b="1" u="none" strike="noStrike" dirty="0">
                <a:effectLst/>
                <a:latin typeface="Arial" panose="020B0604020202020204" pitchFamily="34" charset="0"/>
                <a:ea typeface="Arial" panose="020B0604020202020204" pitchFamily="34" charset="0"/>
              </a:rPr>
              <a:t> parent.</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Check the dictionary override functionality with above tables try to override read only, mandatory, display, default </a:t>
            </a:r>
            <a:r>
              <a:rPr lang="en-GB" sz="3200" b="1" u="none" strike="noStrike" dirty="0" err="1">
                <a:effectLst/>
                <a:latin typeface="Arial" panose="020B0604020202020204" pitchFamily="34" charset="0"/>
                <a:ea typeface="Arial" panose="020B0604020202020204" pitchFamily="34" charset="0"/>
              </a:rPr>
              <a:t>value,dependency</a:t>
            </a:r>
            <a:r>
              <a:rPr lang="en-GB" sz="3200" b="1" u="none" strike="noStrike" dirty="0">
                <a:effectLst/>
                <a:latin typeface="Arial" panose="020B0604020202020204" pitchFamily="34" charset="0"/>
                <a:ea typeface="Arial" panose="020B0604020202020204" pitchFamily="34" charset="0"/>
              </a:rPr>
              <a:t> values.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related list of incident, problem, in the </a:t>
            </a:r>
            <a:r>
              <a:rPr lang="en-GB" sz="3200" b="1" u="none" strike="noStrike" dirty="0" err="1">
                <a:effectLst/>
                <a:latin typeface="Arial" panose="020B0604020202020204" pitchFamily="34" charset="0"/>
                <a:ea typeface="Arial" panose="020B0604020202020204" pitchFamily="34" charset="0"/>
              </a:rPr>
              <a:t>brillio</a:t>
            </a:r>
            <a:r>
              <a:rPr lang="en-GB" sz="3200" b="1" u="none" strike="noStrike" dirty="0">
                <a:effectLst/>
                <a:latin typeface="Arial" panose="020B0604020202020204" pitchFamily="34" charset="0"/>
                <a:ea typeface="Arial" panose="020B0604020202020204" pitchFamily="34" charset="0"/>
              </a:rPr>
              <a:t> parent table</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an auto-number for </a:t>
            </a:r>
            <a:r>
              <a:rPr lang="en-GB" sz="3200" b="1" u="none" strike="noStrike" dirty="0" err="1">
                <a:effectLst/>
                <a:latin typeface="Arial" panose="020B0604020202020204" pitchFamily="34" charset="0"/>
                <a:ea typeface="Arial" panose="020B0604020202020204" pitchFamily="34" charset="0"/>
              </a:rPr>
              <a:t>brillio</a:t>
            </a:r>
            <a:r>
              <a:rPr lang="en-GB" sz="3200" b="1" u="none" strike="noStrike" dirty="0">
                <a:effectLst/>
                <a:latin typeface="Arial" panose="020B0604020202020204" pitchFamily="34" charset="0"/>
                <a:ea typeface="Arial" panose="020B0604020202020204" pitchFamily="34" charset="0"/>
              </a:rPr>
              <a:t> parent table .</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1. Create one table named as Wipro students with columns: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Name(string),Phone(string),Email(string),Qualification(Choice).</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Create 2 user accounts (Sai , </a:t>
            </a:r>
            <a:r>
              <a:rPr lang="en-GB" sz="3200" b="1" u="none" strike="noStrike" dirty="0" err="1">
                <a:effectLst/>
                <a:latin typeface="Arial" panose="020B0604020202020204" pitchFamily="34" charset="0"/>
                <a:ea typeface="Arial" panose="020B0604020202020204" pitchFamily="34" charset="0"/>
              </a:rPr>
              <a:t>Ramu</a:t>
            </a:r>
            <a:r>
              <a:rPr lang="en-GB" sz="3200" b="1" u="none" strike="noStrike" dirty="0">
                <a:effectLst/>
                <a:latin typeface="Arial" panose="020B0604020202020204" pitchFamily="34" charset="0"/>
                <a:ea typeface="Arial" panose="020B0604020202020204" pitchFamily="34" charset="0"/>
              </a:rPr>
              <a:t>) and 2 Roles(internal, external). And add internal to Sai, external to </a:t>
            </a:r>
            <a:r>
              <a:rPr lang="en-GB" sz="3200" b="1" u="none" strike="noStrike" dirty="0" err="1">
                <a:effectLst/>
                <a:latin typeface="Arial" panose="020B0604020202020204" pitchFamily="34" charset="0"/>
                <a:ea typeface="Arial" panose="020B0604020202020204" pitchFamily="34" charset="0"/>
              </a:rPr>
              <a:t>Ramu</a:t>
            </a:r>
            <a:r>
              <a:rPr lang="en-GB" sz="3200" b="1" u="none" strike="noStrike" dirty="0">
                <a:effectLst/>
                <a:latin typeface="Arial" panose="020B0604020202020204" pitchFamily="34" charset="0"/>
                <a:ea typeface="Arial" panose="020B0604020202020204" pitchFamily="34" charset="0"/>
              </a:rPr>
              <a:t>, Create at least 15 records with your batch data.</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2. Create a custom role named as ‘ServiceNow’, create all table level ACL to ServiceNow roles.</a:t>
            </a:r>
            <a:endParaRPr lang="en-US" sz="32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3200" b="1" u="none" strike="noStrike" dirty="0">
                <a:effectLst/>
                <a:latin typeface="Arial" panose="020B0604020202020204" pitchFamily="34" charset="0"/>
                <a:ea typeface="Arial" panose="020B0604020202020204" pitchFamily="34" charset="0"/>
              </a:rPr>
              <a:t>3. Provide this ‘ServiceNow’ role to Both </a:t>
            </a:r>
            <a:r>
              <a:rPr lang="en-GB" sz="3200" b="1" u="none" strike="noStrike" dirty="0" err="1">
                <a:effectLst/>
                <a:latin typeface="Arial" panose="020B0604020202020204" pitchFamily="34" charset="0"/>
                <a:ea typeface="Arial" panose="020B0604020202020204" pitchFamily="34" charset="0"/>
              </a:rPr>
              <a:t>Ramu</a:t>
            </a:r>
            <a:r>
              <a:rPr lang="en-GB" sz="3200" b="1" u="none" strike="noStrike" dirty="0">
                <a:effectLst/>
                <a:latin typeface="Arial" panose="020B0604020202020204" pitchFamily="34" charset="0"/>
                <a:ea typeface="Arial" panose="020B0604020202020204" pitchFamily="34" charset="0"/>
              </a:rPr>
              <a:t> and Sai.</a:t>
            </a:r>
            <a:endParaRPr lang="en-US" sz="3200" u="none" strike="noStrike"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4190884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BF832-09EE-49AD-ADFC-D737BEC4828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6A30284-5624-4DBC-AC78-075C731329D9}"/>
              </a:ext>
            </a:extLst>
          </p:cNvPr>
          <p:cNvSpPr>
            <a:spLocks noGrp="1"/>
          </p:cNvSpPr>
          <p:nvPr>
            <p:ph idx="1"/>
          </p:nvPr>
        </p:nvSpPr>
        <p:spPr/>
        <p:txBody>
          <a:bodyPr>
            <a:normAutofit fontScale="47500" lnSpcReduction="20000"/>
          </a:bodyPr>
          <a:lstStyle/>
          <a:p>
            <a:pPr marL="0" marR="0">
              <a:lnSpc>
                <a:spcPct val="125000"/>
              </a:lnSpc>
              <a:spcBef>
                <a:spcPts val="0"/>
              </a:spcBef>
              <a:spcAft>
                <a:spcPts val="0"/>
              </a:spcAft>
            </a:pPr>
            <a:r>
              <a:rPr lang="en-GB" sz="2800" b="1" dirty="0">
                <a:effectLst/>
                <a:latin typeface="Arial" panose="020B0604020202020204" pitchFamily="34" charset="0"/>
                <a:ea typeface="Arial" panose="020B0604020202020204" pitchFamily="34" charset="0"/>
              </a:rPr>
              <a:t> </a:t>
            </a:r>
            <a:endParaRPr lang="en-US" sz="2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 Give All fields read access to internal role and Phone field read access to external role, Check what access </a:t>
            </a:r>
            <a:r>
              <a:rPr lang="en-GB" sz="2800" b="1" u="none" strike="noStrike" dirty="0" err="1">
                <a:effectLst/>
                <a:latin typeface="Arial" panose="020B0604020202020204" pitchFamily="34" charset="0"/>
                <a:ea typeface="Arial" panose="020B0604020202020204" pitchFamily="34" charset="0"/>
              </a:rPr>
              <a:t>Ramu</a:t>
            </a:r>
            <a:r>
              <a:rPr lang="en-GB" sz="2800" b="1" u="none" strike="noStrike" dirty="0">
                <a:effectLst/>
                <a:latin typeface="Arial" panose="020B0604020202020204" pitchFamily="34" charset="0"/>
                <a:ea typeface="Arial" panose="020B0604020202020204" pitchFamily="34" charset="0"/>
              </a:rPr>
              <a:t> will get , What access to Sai will get.</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Create one more user named shiva with XYZ role, Give write access to the name field. Check how </a:t>
            </a:r>
            <a:r>
              <a:rPr lang="en-GB" sz="2800" b="1" u="none" strike="noStrike" dirty="0" err="1">
                <a:effectLst/>
                <a:latin typeface="Arial" panose="020B0604020202020204" pitchFamily="34" charset="0"/>
                <a:ea typeface="Arial" panose="020B0604020202020204" pitchFamily="34" charset="0"/>
              </a:rPr>
              <a:t>sai</a:t>
            </a:r>
            <a:r>
              <a:rPr lang="en-GB" sz="2800" b="1" u="none" strike="noStrike" dirty="0">
                <a:effectLst/>
                <a:latin typeface="Arial" panose="020B0604020202020204" pitchFamily="34" charset="0"/>
                <a:ea typeface="Arial" panose="020B0604020202020204" pitchFamily="34" charset="0"/>
              </a:rPr>
              <a:t> and </a:t>
            </a:r>
            <a:r>
              <a:rPr lang="en-GB" sz="2800" b="1" u="none" strike="noStrike" dirty="0" err="1">
                <a:effectLst/>
                <a:latin typeface="Arial" panose="020B0604020202020204" pitchFamily="34" charset="0"/>
                <a:ea typeface="Arial" panose="020B0604020202020204" pitchFamily="34" charset="0"/>
              </a:rPr>
              <a:t>Ramu</a:t>
            </a:r>
            <a:r>
              <a:rPr lang="en-GB" sz="2800" b="1" u="none" strike="noStrike" dirty="0">
                <a:effectLst/>
                <a:latin typeface="Arial" panose="020B0604020202020204" pitchFamily="34" charset="0"/>
                <a:ea typeface="Arial" panose="020B0604020202020204" pitchFamily="34" charset="0"/>
              </a:rPr>
              <a:t> </a:t>
            </a:r>
            <a:r>
              <a:rPr lang="en-GB" sz="2800" b="1" u="none" strike="noStrike" dirty="0" err="1">
                <a:effectLst/>
                <a:latin typeface="Arial" panose="020B0604020202020204" pitchFamily="34" charset="0"/>
                <a:ea typeface="Arial" panose="020B0604020202020204" pitchFamily="34" charset="0"/>
              </a:rPr>
              <a:t>behavior</a:t>
            </a:r>
            <a:r>
              <a:rPr lang="en-GB" sz="2800" b="1" u="none" strike="noStrike" dirty="0">
                <a:effectLst/>
                <a:latin typeface="Arial" panose="020B0604020202020204" pitchFamily="34" charset="0"/>
                <a:ea typeface="Arial" panose="020B0604020202020204" pitchFamily="34" charset="0"/>
              </a:rPr>
              <a:t> changes on the name field.</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Check if we can add multiple roles in the same ACL.</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I want to ensure that </a:t>
            </a:r>
            <a:r>
              <a:rPr lang="en-GB" sz="2800" b="1" u="none" strike="noStrike" dirty="0" err="1">
                <a:effectLst/>
                <a:latin typeface="Arial" panose="020B0604020202020204" pitchFamily="34" charset="0"/>
                <a:ea typeface="Arial" panose="020B0604020202020204" pitchFamily="34" charset="0"/>
              </a:rPr>
              <a:t>Ramu</a:t>
            </a:r>
            <a:r>
              <a:rPr lang="en-GB" sz="2800" b="1" u="none" strike="noStrike" dirty="0">
                <a:effectLst/>
                <a:latin typeface="Arial" panose="020B0604020202020204" pitchFamily="34" charset="0"/>
                <a:ea typeface="Arial" panose="020B0604020202020204" pitchFamily="34" charset="0"/>
              </a:rPr>
              <a:t> can read only </a:t>
            </a:r>
            <a:r>
              <a:rPr lang="en-GB" sz="2800" b="1" u="none" strike="noStrike" dirty="0" err="1">
                <a:effectLst/>
                <a:latin typeface="Arial" panose="020B0604020202020204" pitchFamily="34" charset="0"/>
                <a:ea typeface="Arial" panose="020B0604020202020204" pitchFamily="34" charset="0"/>
              </a:rPr>
              <a:t>name,phone</a:t>
            </a:r>
            <a:r>
              <a:rPr lang="en-GB" sz="2800" b="1" u="none" strike="noStrike" dirty="0">
                <a:effectLst/>
                <a:latin typeface="Arial" panose="020B0604020202020204" pitchFamily="34" charset="0"/>
                <a:ea typeface="Arial" panose="020B0604020202020204" pitchFamily="34" charset="0"/>
              </a:rPr>
              <a:t>.</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I want to ensure Sai to read only qualification and Email fields.</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I want to give delete access only to the Sai.</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Give name field write access only to </a:t>
            </a:r>
            <a:r>
              <a:rPr lang="en-GB" sz="2800" b="1" u="none" strike="noStrike" dirty="0" err="1">
                <a:effectLst/>
                <a:latin typeface="Arial" panose="020B0604020202020204" pitchFamily="34" charset="0"/>
                <a:ea typeface="Arial" panose="020B0604020202020204" pitchFamily="34" charset="0"/>
              </a:rPr>
              <a:t>itil</a:t>
            </a:r>
            <a:r>
              <a:rPr lang="en-GB" sz="2800" b="1" u="none" strike="noStrike" dirty="0">
                <a:effectLst/>
                <a:latin typeface="Arial" panose="020B0604020202020204" pitchFamily="34" charset="0"/>
                <a:ea typeface="Arial" panose="020B0604020202020204" pitchFamily="34" charset="0"/>
              </a:rPr>
              <a:t>.</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Prove application access and Table level access is different, By giving different roles table </a:t>
            </a:r>
            <a:r>
              <a:rPr lang="en-GB" sz="2800" b="1" u="none" strike="noStrike" dirty="0" err="1">
                <a:effectLst/>
                <a:latin typeface="Arial" panose="020B0604020202020204" pitchFamily="34" charset="0"/>
                <a:ea typeface="Arial" panose="020B0604020202020204" pitchFamily="34" charset="0"/>
              </a:rPr>
              <a:t>acl’s</a:t>
            </a:r>
            <a:r>
              <a:rPr lang="en-GB" sz="2800" b="1" u="none" strike="noStrike" dirty="0">
                <a:effectLst/>
                <a:latin typeface="Arial" panose="020B0604020202020204" pitchFamily="34" charset="0"/>
                <a:ea typeface="Arial" panose="020B0604020202020204" pitchFamily="34" charset="0"/>
              </a:rPr>
              <a:t> and application &amp; module.</a:t>
            </a:r>
            <a:endParaRPr lang="en-US" sz="2800" u="none" strike="noStrike" dirty="0">
              <a:effectLst/>
              <a:latin typeface="Arial" panose="020B0604020202020204" pitchFamily="34" charset="0"/>
              <a:ea typeface="Arial" panose="020B0604020202020204" pitchFamily="34" charset="0"/>
            </a:endParaRPr>
          </a:p>
          <a:p>
            <a:pPr marL="269875" marR="0">
              <a:lnSpc>
                <a:spcPct val="125000"/>
              </a:lnSpc>
              <a:spcBef>
                <a:spcPts val="0"/>
              </a:spcBef>
              <a:spcAft>
                <a:spcPts val="0"/>
              </a:spcAft>
            </a:pPr>
            <a:r>
              <a:rPr lang="en-GB" sz="2800" b="1" dirty="0">
                <a:effectLst/>
                <a:latin typeface="Arial" panose="020B0604020202020204" pitchFamily="34" charset="0"/>
                <a:ea typeface="Arial" panose="020B0604020202020204" pitchFamily="34" charset="0"/>
              </a:rPr>
              <a:t> </a:t>
            </a:r>
            <a:endParaRPr lang="en-US" sz="2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2800" b="1" dirty="0">
                <a:effectLst/>
                <a:latin typeface="Arial" panose="020B0604020202020204" pitchFamily="34" charset="0"/>
                <a:ea typeface="Arial" panose="020B0604020202020204" pitchFamily="34" charset="0"/>
              </a:rPr>
              <a:t> </a:t>
            </a:r>
            <a:endParaRPr lang="en-US" sz="2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2800" b="1" dirty="0">
                <a:solidFill>
                  <a:srgbClr val="28438F"/>
                </a:solidFill>
                <a:effectLst/>
                <a:latin typeface="Arial" panose="020B0604020202020204" pitchFamily="34" charset="0"/>
                <a:ea typeface="Arial" panose="020B0604020202020204" pitchFamily="34" charset="0"/>
              </a:rPr>
              <a:t>Update sets:</a:t>
            </a:r>
            <a:endParaRPr lang="en-US" sz="2800" dirty="0">
              <a:effectLst/>
              <a:latin typeface="Arial" panose="020B0604020202020204" pitchFamily="34" charset="0"/>
              <a:ea typeface="Arial" panose="020B0604020202020204" pitchFamily="34" charset="0"/>
            </a:endParaRPr>
          </a:p>
          <a:p>
            <a:pPr marL="0" marR="0">
              <a:lnSpc>
                <a:spcPct val="125000"/>
              </a:lnSpc>
              <a:spcBef>
                <a:spcPts val="0"/>
              </a:spcBef>
              <a:spcAft>
                <a:spcPts val="0"/>
              </a:spcAft>
            </a:pPr>
            <a:r>
              <a:rPr lang="en-GB" sz="2800" b="1" dirty="0">
                <a:effectLst/>
                <a:latin typeface="Arial" panose="020B0604020202020204" pitchFamily="34" charset="0"/>
                <a:ea typeface="Arial" panose="020B0604020202020204" pitchFamily="34" charset="0"/>
              </a:rPr>
              <a:t> </a:t>
            </a:r>
            <a:endParaRPr lang="en-US" sz="2800"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Local </a:t>
            </a:r>
            <a:r>
              <a:rPr lang="en-GB" sz="2800" b="1" u="none" strike="noStrike" dirty="0" err="1">
                <a:effectLst/>
                <a:latin typeface="Arial" panose="020B0604020202020204" pitchFamily="34" charset="0"/>
                <a:ea typeface="Arial" panose="020B0604020202020204" pitchFamily="34" charset="0"/>
              </a:rPr>
              <a:t>updateset</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Merge update sets functionality</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err="1">
                <a:effectLst/>
                <a:latin typeface="Arial" panose="020B0604020202020204" pitchFamily="34" charset="0"/>
                <a:ea typeface="Arial" panose="020B0604020202020204" pitchFamily="34" charset="0"/>
              </a:rPr>
              <a:t>Updatesourse</a:t>
            </a:r>
            <a:r>
              <a:rPr lang="en-GB" sz="2800" b="1" u="none" strike="noStrike" dirty="0">
                <a:effectLst/>
                <a:latin typeface="Arial" panose="020B0604020202020204" pitchFamily="34" charset="0"/>
                <a:ea typeface="Arial" panose="020B0604020202020204" pitchFamily="34" charset="0"/>
              </a:rPr>
              <a:t> and Export Import  process testing.</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Backout update set functionality.</a:t>
            </a:r>
            <a:endParaRPr lang="en-US" sz="2800" u="none" strike="noStrike" dirty="0">
              <a:effectLst/>
              <a:latin typeface="Arial" panose="020B0604020202020204" pitchFamily="34" charset="0"/>
              <a:ea typeface="Arial" panose="020B0604020202020204" pitchFamily="34" charset="0"/>
            </a:endParaRPr>
          </a:p>
          <a:p>
            <a:pPr marL="342900" marR="0" lvl="0" indent="-342900">
              <a:lnSpc>
                <a:spcPct val="125000"/>
              </a:lnSpc>
              <a:spcBef>
                <a:spcPts val="0"/>
              </a:spcBef>
              <a:spcAft>
                <a:spcPts val="0"/>
              </a:spcAft>
              <a:buFont typeface="+mj-lt"/>
              <a:buAutoNum type="arabicPeriod"/>
            </a:pPr>
            <a:r>
              <a:rPr lang="en-GB" sz="2800" b="1" u="none" strike="noStrike" dirty="0">
                <a:effectLst/>
                <a:latin typeface="Arial" panose="020B0604020202020204" pitchFamily="34" charset="0"/>
                <a:ea typeface="Arial" panose="020B0604020202020204" pitchFamily="34" charset="0"/>
              </a:rPr>
              <a:t>Parent or Batch update functionality.</a:t>
            </a:r>
            <a:endParaRPr lang="en-US" sz="2800" u="none" strike="noStrike" dirty="0">
              <a:effectLst/>
              <a:latin typeface="Arial" panose="020B0604020202020204" pitchFamily="34" charset="0"/>
              <a:ea typeface="Arial" panose="020B0604020202020204" pitchFamily="34" charset="0"/>
            </a:endParaRPr>
          </a:p>
          <a:p>
            <a:endParaRPr lang="en-US" dirty="0"/>
          </a:p>
        </p:txBody>
      </p:sp>
    </p:spTree>
    <p:extLst>
      <p:ext uri="{BB962C8B-B14F-4D97-AF65-F5344CB8AC3E}">
        <p14:creationId xmlns:p14="http://schemas.microsoft.com/office/powerpoint/2010/main" val="603489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31EA-4A68-4212-A335-3430F4BB44FD}"/>
              </a:ext>
            </a:extLst>
          </p:cNvPr>
          <p:cNvSpPr>
            <a:spLocks noGrp="1"/>
          </p:cNvSpPr>
          <p:nvPr>
            <p:ph type="title"/>
          </p:nvPr>
        </p:nvSpPr>
        <p:spPr/>
        <p:txBody>
          <a:bodyPr/>
          <a:lstStyle/>
          <a:p>
            <a:r>
              <a:rPr lang="en-US" dirty="0"/>
              <a:t>ALL 56 field types of table </a:t>
            </a:r>
          </a:p>
        </p:txBody>
      </p:sp>
      <p:pic>
        <p:nvPicPr>
          <p:cNvPr id="5" name="Content Placeholder 4">
            <a:extLst>
              <a:ext uri="{FF2B5EF4-FFF2-40B4-BE49-F238E27FC236}">
                <a16:creationId xmlns:a16="http://schemas.microsoft.com/office/drawing/2014/main" id="{034EAA94-8EAD-42DB-ACF0-1F35EDDE47C1}"/>
              </a:ext>
            </a:extLst>
          </p:cNvPr>
          <p:cNvPicPr>
            <a:picLocks noGrp="1" noChangeAspect="1"/>
          </p:cNvPicPr>
          <p:nvPr>
            <p:ph idx="1"/>
          </p:nvPr>
        </p:nvPicPr>
        <p:blipFill>
          <a:blip r:embed="rId2"/>
          <a:stretch>
            <a:fillRect/>
          </a:stretch>
        </p:blipFill>
        <p:spPr>
          <a:xfrm>
            <a:off x="974864" y="1780802"/>
            <a:ext cx="8772059" cy="4351338"/>
          </a:xfrm>
        </p:spPr>
      </p:pic>
    </p:spTree>
    <p:extLst>
      <p:ext uri="{BB962C8B-B14F-4D97-AF65-F5344CB8AC3E}">
        <p14:creationId xmlns:p14="http://schemas.microsoft.com/office/powerpoint/2010/main" val="102407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EB27F-A60A-40C8-963A-F343BC801F79}"/>
              </a:ext>
            </a:extLst>
          </p:cNvPr>
          <p:cNvSpPr>
            <a:spLocks noGrp="1"/>
          </p:cNvSpPr>
          <p:nvPr>
            <p:ph type="title"/>
          </p:nvPr>
        </p:nvSpPr>
        <p:spPr/>
        <p:txBody>
          <a:bodyPr>
            <a:normAutofit fontScale="90000"/>
          </a:bodyPr>
          <a:lstStyle/>
          <a:p>
            <a:r>
              <a:rPr lang="en-GB" sz="4400" b="1" u="none" strike="noStrike" dirty="0">
                <a:effectLst/>
                <a:latin typeface="Arial" panose="020B0604020202020204" pitchFamily="34" charset="0"/>
                <a:ea typeface="Arial" panose="020B0604020202020204" pitchFamily="34" charset="0"/>
              </a:rPr>
              <a:t>Create table by Replicating Incident table </a:t>
            </a:r>
            <a:br>
              <a:rPr lang="en-US" sz="4400" u="none" strike="noStrike" dirty="0">
                <a:effectLst/>
                <a:latin typeface="Arial" panose="020B0604020202020204" pitchFamily="34" charset="0"/>
                <a:ea typeface="Arial" panose="020B0604020202020204" pitchFamily="34" charset="0"/>
              </a:rPr>
            </a:br>
            <a:endParaRPr lang="en-US" dirty="0"/>
          </a:p>
        </p:txBody>
      </p:sp>
      <p:pic>
        <p:nvPicPr>
          <p:cNvPr id="5" name="Content Placeholder 4">
            <a:extLst>
              <a:ext uri="{FF2B5EF4-FFF2-40B4-BE49-F238E27FC236}">
                <a16:creationId xmlns:a16="http://schemas.microsoft.com/office/drawing/2014/main" id="{9F54B4FC-92AB-4508-8A26-06523AEDEBF0}"/>
              </a:ext>
            </a:extLst>
          </p:cNvPr>
          <p:cNvPicPr>
            <a:picLocks noGrp="1" noChangeAspect="1"/>
          </p:cNvPicPr>
          <p:nvPr>
            <p:ph idx="1"/>
          </p:nvPr>
        </p:nvPicPr>
        <p:blipFill>
          <a:blip r:embed="rId2"/>
          <a:stretch>
            <a:fillRect/>
          </a:stretch>
        </p:blipFill>
        <p:spPr>
          <a:xfrm>
            <a:off x="1406562" y="1449107"/>
            <a:ext cx="9217509" cy="4351338"/>
          </a:xfrm>
        </p:spPr>
      </p:pic>
    </p:spTree>
    <p:extLst>
      <p:ext uri="{BB962C8B-B14F-4D97-AF65-F5344CB8AC3E}">
        <p14:creationId xmlns:p14="http://schemas.microsoft.com/office/powerpoint/2010/main" val="344782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0ECFF-8BB7-48FB-918A-410B756BD308}"/>
              </a:ext>
            </a:extLst>
          </p:cNvPr>
          <p:cNvSpPr>
            <a:spLocks noGrp="1"/>
          </p:cNvSpPr>
          <p:nvPr>
            <p:ph type="title"/>
          </p:nvPr>
        </p:nvSpPr>
        <p:spPr/>
        <p:txBody>
          <a:bodyPr>
            <a:normAutofit fontScale="90000"/>
          </a:bodyPr>
          <a:lstStyle/>
          <a:p>
            <a:r>
              <a:rPr lang="en-GB" sz="2200" b="1" u="none" strike="noStrike" dirty="0">
                <a:effectLst/>
                <a:latin typeface="Arial" panose="020B0604020202020204" pitchFamily="34" charset="0"/>
                <a:ea typeface="Arial" panose="020B0604020202020204" pitchFamily="34" charset="0"/>
              </a:rPr>
              <a:t>Create 2 custom tables to extend the other table </a:t>
            </a:r>
            <a:br>
              <a:rPr lang="en-GB" sz="4400" b="1" u="none" strike="noStrike" dirty="0">
                <a:effectLst/>
                <a:latin typeface="Arial" panose="020B0604020202020204" pitchFamily="34" charset="0"/>
                <a:ea typeface="Arial" panose="020B0604020202020204" pitchFamily="34" charset="0"/>
              </a:rPr>
            </a:br>
            <a:r>
              <a:rPr lang="en-GB" sz="2000" b="1" u="none" strike="noStrike" dirty="0">
                <a:effectLst/>
                <a:latin typeface="Arial" panose="020B0604020202020204" pitchFamily="34" charset="0"/>
                <a:ea typeface="Arial" panose="020B0604020202020204" pitchFamily="34" charset="0"/>
              </a:rPr>
              <a:t>CUSTOM TABLE FINANCE CASE AND CHILD TABLES FINANCE CASE LOG AND FINANCE CASE LOG</a:t>
            </a:r>
            <a:br>
              <a:rPr lang="en-US" sz="4400" u="none" strike="noStrike" dirty="0">
                <a:effectLst/>
                <a:latin typeface="Arial" panose="020B0604020202020204" pitchFamily="34" charset="0"/>
                <a:ea typeface="Arial" panose="020B0604020202020204" pitchFamily="34" charset="0"/>
              </a:rPr>
            </a:br>
            <a:endParaRPr lang="en-US" dirty="0"/>
          </a:p>
        </p:txBody>
      </p:sp>
      <p:pic>
        <p:nvPicPr>
          <p:cNvPr id="5" name="Content Placeholder 4">
            <a:extLst>
              <a:ext uri="{FF2B5EF4-FFF2-40B4-BE49-F238E27FC236}">
                <a16:creationId xmlns:a16="http://schemas.microsoft.com/office/drawing/2014/main" id="{CD651429-B90E-4FB5-8738-582FEFE79907}"/>
              </a:ext>
            </a:extLst>
          </p:cNvPr>
          <p:cNvPicPr>
            <a:picLocks noGrp="1" noChangeAspect="1"/>
          </p:cNvPicPr>
          <p:nvPr>
            <p:ph idx="1"/>
          </p:nvPr>
        </p:nvPicPr>
        <p:blipFill>
          <a:blip r:embed="rId2"/>
          <a:stretch>
            <a:fillRect/>
          </a:stretch>
        </p:blipFill>
        <p:spPr>
          <a:xfrm>
            <a:off x="587189" y="1551973"/>
            <a:ext cx="10515600" cy="1599629"/>
          </a:xfrm>
        </p:spPr>
      </p:pic>
      <p:pic>
        <p:nvPicPr>
          <p:cNvPr id="7" name="Picture 6">
            <a:extLst>
              <a:ext uri="{FF2B5EF4-FFF2-40B4-BE49-F238E27FC236}">
                <a16:creationId xmlns:a16="http://schemas.microsoft.com/office/drawing/2014/main" id="{0227E3A2-CA99-4D44-A702-9D9985E203C0}"/>
              </a:ext>
            </a:extLst>
          </p:cNvPr>
          <p:cNvPicPr>
            <a:picLocks noChangeAspect="1"/>
          </p:cNvPicPr>
          <p:nvPr/>
        </p:nvPicPr>
        <p:blipFill>
          <a:blip r:embed="rId3"/>
          <a:stretch>
            <a:fillRect/>
          </a:stretch>
        </p:blipFill>
        <p:spPr>
          <a:xfrm>
            <a:off x="587189" y="3302595"/>
            <a:ext cx="10515600" cy="1593818"/>
          </a:xfrm>
          <a:prstGeom prst="rect">
            <a:avLst/>
          </a:prstGeom>
        </p:spPr>
      </p:pic>
    </p:spTree>
    <p:extLst>
      <p:ext uri="{BB962C8B-B14F-4D97-AF65-F5344CB8AC3E}">
        <p14:creationId xmlns:p14="http://schemas.microsoft.com/office/powerpoint/2010/main" val="1770536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BDEAB-252A-4AE7-B43F-AAD892C70380}"/>
              </a:ext>
            </a:extLst>
          </p:cNvPr>
          <p:cNvSpPr>
            <a:spLocks noGrp="1"/>
          </p:cNvSpPr>
          <p:nvPr>
            <p:ph type="title"/>
          </p:nvPr>
        </p:nvSpPr>
        <p:spPr/>
        <p:txBody>
          <a:bodyPr>
            <a:normAutofit/>
          </a:bodyPr>
          <a:lstStyle/>
          <a:p>
            <a:r>
              <a:rPr lang="en-GB" sz="2700" b="1" u="none" strike="noStrike" dirty="0">
                <a:effectLst/>
                <a:latin typeface="Arial" panose="020B0604020202020204" pitchFamily="34" charset="0"/>
                <a:ea typeface="Arial" panose="020B0604020202020204" pitchFamily="34" charset="0"/>
              </a:rPr>
              <a:t>Observe the schema map of different tables.</a:t>
            </a:r>
            <a:br>
              <a:rPr lang="en-US" sz="4400" u="none" strike="noStrike" dirty="0">
                <a:effectLst/>
                <a:latin typeface="Arial" panose="020B0604020202020204" pitchFamily="34" charset="0"/>
                <a:ea typeface="Arial" panose="020B0604020202020204" pitchFamily="34" charset="0"/>
              </a:rPr>
            </a:br>
            <a:endParaRPr lang="en-US" dirty="0"/>
          </a:p>
        </p:txBody>
      </p:sp>
      <p:pic>
        <p:nvPicPr>
          <p:cNvPr id="5" name="Content Placeholder 4">
            <a:extLst>
              <a:ext uri="{FF2B5EF4-FFF2-40B4-BE49-F238E27FC236}">
                <a16:creationId xmlns:a16="http://schemas.microsoft.com/office/drawing/2014/main" id="{7B0CDBB5-C668-4D32-B8DB-B6A864CBF01D}"/>
              </a:ext>
            </a:extLst>
          </p:cNvPr>
          <p:cNvPicPr>
            <a:picLocks noGrp="1" noChangeAspect="1"/>
          </p:cNvPicPr>
          <p:nvPr>
            <p:ph idx="1"/>
          </p:nvPr>
        </p:nvPicPr>
        <p:blipFill>
          <a:blip r:embed="rId2"/>
          <a:stretch>
            <a:fillRect/>
          </a:stretch>
        </p:blipFill>
        <p:spPr>
          <a:xfrm>
            <a:off x="986118" y="1162237"/>
            <a:ext cx="9708777" cy="4351338"/>
          </a:xfrm>
        </p:spPr>
      </p:pic>
    </p:spTree>
    <p:extLst>
      <p:ext uri="{BB962C8B-B14F-4D97-AF65-F5344CB8AC3E}">
        <p14:creationId xmlns:p14="http://schemas.microsoft.com/office/powerpoint/2010/main" val="4146734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D7C7E-5301-446D-8912-FE27EBDCF989}"/>
              </a:ext>
            </a:extLst>
          </p:cNvPr>
          <p:cNvSpPr>
            <a:spLocks noGrp="1"/>
          </p:cNvSpPr>
          <p:nvPr>
            <p:ph type="title"/>
          </p:nvPr>
        </p:nvSpPr>
        <p:spPr/>
        <p:txBody>
          <a:bodyPr>
            <a:normAutofit fontScale="90000"/>
          </a:bodyPr>
          <a:lstStyle/>
          <a:p>
            <a:r>
              <a:rPr lang="en-GB" sz="4400" b="1" u="none" strike="noStrike" dirty="0">
                <a:effectLst/>
                <a:latin typeface="Arial" panose="020B0604020202020204" pitchFamily="34" charset="0"/>
                <a:ea typeface="Arial" panose="020B0604020202020204" pitchFamily="34" charset="0"/>
              </a:rPr>
              <a:t>Create 2 choice fields: </a:t>
            </a:r>
            <a:r>
              <a:rPr lang="en-GB" sz="4400" b="1" u="none" strike="noStrike" dirty="0" err="1">
                <a:effectLst/>
                <a:latin typeface="Arial" panose="020B0604020202020204" pitchFamily="34" charset="0"/>
                <a:ea typeface="Arial" panose="020B0604020202020204" pitchFamily="34" charset="0"/>
              </a:rPr>
              <a:t>country,state</a:t>
            </a:r>
            <a:r>
              <a:rPr lang="en-GB" sz="4400" b="1" u="none" strike="noStrike" dirty="0">
                <a:effectLst/>
                <a:latin typeface="Arial" panose="020B0604020202020204" pitchFamily="34" charset="0"/>
                <a:ea typeface="Arial" panose="020B0604020202020204" pitchFamily="34" charset="0"/>
              </a:rPr>
              <a:t> add the choices and check the dependency.</a:t>
            </a:r>
            <a:br>
              <a:rPr lang="en-US" sz="4400" u="none" strike="noStrike" dirty="0">
                <a:effectLst/>
                <a:latin typeface="Arial" panose="020B0604020202020204" pitchFamily="34" charset="0"/>
                <a:ea typeface="Arial" panose="020B0604020202020204" pitchFamily="34" charset="0"/>
              </a:rPr>
            </a:br>
            <a:endParaRPr lang="en-US" dirty="0"/>
          </a:p>
        </p:txBody>
      </p:sp>
      <p:pic>
        <p:nvPicPr>
          <p:cNvPr id="5" name="Content Placeholder 4">
            <a:extLst>
              <a:ext uri="{FF2B5EF4-FFF2-40B4-BE49-F238E27FC236}">
                <a16:creationId xmlns:a16="http://schemas.microsoft.com/office/drawing/2014/main" id="{DF273EAF-C871-452A-AF9C-B3A60E7A096B}"/>
              </a:ext>
            </a:extLst>
          </p:cNvPr>
          <p:cNvPicPr>
            <a:picLocks noGrp="1" noChangeAspect="1"/>
          </p:cNvPicPr>
          <p:nvPr>
            <p:ph idx="1"/>
          </p:nvPr>
        </p:nvPicPr>
        <p:blipFill>
          <a:blip r:embed="rId2"/>
          <a:stretch>
            <a:fillRect/>
          </a:stretch>
        </p:blipFill>
        <p:spPr>
          <a:xfrm>
            <a:off x="1272990" y="1978025"/>
            <a:ext cx="8782078" cy="4351338"/>
          </a:xfrm>
        </p:spPr>
      </p:pic>
    </p:spTree>
    <p:extLst>
      <p:ext uri="{BB962C8B-B14F-4D97-AF65-F5344CB8AC3E}">
        <p14:creationId xmlns:p14="http://schemas.microsoft.com/office/powerpoint/2010/main" val="2377706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FAE4F-2EC3-4CC3-99D1-A39A2F11839A}"/>
              </a:ext>
            </a:extLst>
          </p:cNvPr>
          <p:cNvSpPr>
            <a:spLocks noGrp="1"/>
          </p:cNvSpPr>
          <p:nvPr>
            <p:ph type="title"/>
          </p:nvPr>
        </p:nvSpPr>
        <p:spPr/>
        <p:txBody>
          <a:bodyPr>
            <a:normAutofit/>
          </a:bodyPr>
          <a:lstStyle/>
          <a:p>
            <a:r>
              <a:rPr lang="en-GB" sz="2800" u="none" strike="noStrike" dirty="0">
                <a:effectLst/>
                <a:latin typeface="Arial" panose="020B0604020202020204" pitchFamily="34" charset="0"/>
                <a:ea typeface="Arial" panose="020B0604020202020204" pitchFamily="34" charset="0"/>
              </a:rPr>
              <a:t>Check the dot walking for the </a:t>
            </a:r>
            <a:r>
              <a:rPr lang="en-GB" sz="2800" b="1" u="none" strike="noStrike" dirty="0">
                <a:effectLst/>
                <a:latin typeface="Arial" panose="020B0604020202020204" pitchFamily="34" charset="0"/>
                <a:ea typeface="Arial" panose="020B0604020202020204" pitchFamily="34" charset="0"/>
              </a:rPr>
              <a:t>caller</a:t>
            </a:r>
            <a:r>
              <a:rPr lang="en-GB" sz="2800" u="none" strike="noStrike" dirty="0">
                <a:effectLst/>
                <a:latin typeface="Arial" panose="020B0604020202020204" pitchFamily="34" charset="0"/>
                <a:ea typeface="Arial" panose="020B0604020202020204" pitchFamily="34" charset="0"/>
              </a:rPr>
              <a:t> and </a:t>
            </a:r>
            <a:r>
              <a:rPr lang="en-GB" sz="2800" b="1" u="none" strike="noStrike" dirty="0">
                <a:effectLst/>
                <a:latin typeface="Arial" panose="020B0604020202020204" pitchFamily="34" charset="0"/>
                <a:ea typeface="Arial" panose="020B0604020202020204" pitchFamily="34" charset="0"/>
              </a:rPr>
              <a:t>assigned to </a:t>
            </a:r>
            <a:r>
              <a:rPr lang="en-GB" sz="2800" u="none" strike="noStrike" dirty="0">
                <a:effectLst/>
                <a:latin typeface="Arial" panose="020B0604020202020204" pitchFamily="34" charset="0"/>
                <a:ea typeface="Arial" panose="020B0604020202020204" pitchFamily="34" charset="0"/>
              </a:rPr>
              <a:t>fields in the incident table</a:t>
            </a:r>
            <a:br>
              <a:rPr lang="en-US" sz="2800" u="none" strike="noStrike" dirty="0">
                <a:effectLst/>
                <a:latin typeface="Arial" panose="020B0604020202020204" pitchFamily="34" charset="0"/>
                <a:ea typeface="Arial" panose="020B0604020202020204" pitchFamily="34" charset="0"/>
              </a:rPr>
            </a:br>
            <a:endParaRPr lang="en-US" sz="2800" dirty="0"/>
          </a:p>
        </p:txBody>
      </p:sp>
      <p:pic>
        <p:nvPicPr>
          <p:cNvPr id="5" name="Content Placeholder 4">
            <a:extLst>
              <a:ext uri="{FF2B5EF4-FFF2-40B4-BE49-F238E27FC236}">
                <a16:creationId xmlns:a16="http://schemas.microsoft.com/office/drawing/2014/main" id="{16C90ACF-DDB3-4AFD-B344-AD8EF97EF651}"/>
              </a:ext>
            </a:extLst>
          </p:cNvPr>
          <p:cNvPicPr>
            <a:picLocks noGrp="1" noChangeAspect="1"/>
          </p:cNvPicPr>
          <p:nvPr>
            <p:ph idx="1"/>
          </p:nvPr>
        </p:nvPicPr>
        <p:blipFill>
          <a:blip r:embed="rId2"/>
          <a:stretch>
            <a:fillRect/>
          </a:stretch>
        </p:blipFill>
        <p:spPr>
          <a:xfrm>
            <a:off x="5583637" y="1942165"/>
            <a:ext cx="6127973" cy="3311151"/>
          </a:xfrm>
        </p:spPr>
      </p:pic>
      <p:pic>
        <p:nvPicPr>
          <p:cNvPr id="7" name="Picture 6">
            <a:extLst>
              <a:ext uri="{FF2B5EF4-FFF2-40B4-BE49-F238E27FC236}">
                <a16:creationId xmlns:a16="http://schemas.microsoft.com/office/drawing/2014/main" id="{CBC5D747-0ABF-432B-A8EE-0FDB0AAE02F9}"/>
              </a:ext>
            </a:extLst>
          </p:cNvPr>
          <p:cNvPicPr>
            <a:picLocks noChangeAspect="1"/>
          </p:cNvPicPr>
          <p:nvPr/>
        </p:nvPicPr>
        <p:blipFill>
          <a:blip r:embed="rId3"/>
          <a:stretch>
            <a:fillRect/>
          </a:stretch>
        </p:blipFill>
        <p:spPr>
          <a:xfrm>
            <a:off x="372814" y="1855695"/>
            <a:ext cx="4918623" cy="3850024"/>
          </a:xfrm>
          <a:prstGeom prst="rect">
            <a:avLst/>
          </a:prstGeom>
        </p:spPr>
      </p:pic>
    </p:spTree>
    <p:extLst>
      <p:ext uri="{BB962C8B-B14F-4D97-AF65-F5344CB8AC3E}">
        <p14:creationId xmlns:p14="http://schemas.microsoft.com/office/powerpoint/2010/main" val="951575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70D42-CBB9-4FEF-802F-239D3075878D}"/>
              </a:ext>
            </a:extLst>
          </p:cNvPr>
          <p:cNvSpPr>
            <a:spLocks noGrp="1"/>
          </p:cNvSpPr>
          <p:nvPr>
            <p:ph type="title"/>
          </p:nvPr>
        </p:nvSpPr>
        <p:spPr>
          <a:xfrm>
            <a:off x="838200" y="365125"/>
            <a:ext cx="10116671" cy="477557"/>
          </a:xfrm>
        </p:spPr>
        <p:txBody>
          <a:bodyPr>
            <a:normAutofit fontScale="90000"/>
          </a:bodyPr>
          <a:lstStyle/>
          <a:p>
            <a:r>
              <a:rPr lang="en-GB" sz="2200" b="1" u="none" strike="noStrike" dirty="0">
                <a:effectLst/>
                <a:latin typeface="Arial" panose="020B0604020202020204" pitchFamily="34" charset="0"/>
                <a:ea typeface="Arial" panose="020B0604020202020204" pitchFamily="34" charset="0"/>
              </a:rPr>
              <a:t>Create a filter of software category records to visible software groups</a:t>
            </a:r>
            <a:r>
              <a:rPr lang="en-GB" sz="2700" b="1" u="none" strike="noStrike" dirty="0">
                <a:effectLst/>
                <a:latin typeface="Arial" panose="020B0604020202020204" pitchFamily="34" charset="0"/>
                <a:ea typeface="Arial" panose="020B0604020202020204" pitchFamily="34" charset="0"/>
              </a:rPr>
              <a:t>.</a:t>
            </a:r>
            <a:br>
              <a:rPr lang="en-US" sz="4400" u="none" strike="noStrike" dirty="0">
                <a:effectLst/>
                <a:latin typeface="Arial" panose="020B0604020202020204" pitchFamily="34" charset="0"/>
                <a:ea typeface="Arial" panose="020B0604020202020204" pitchFamily="34" charset="0"/>
              </a:rPr>
            </a:br>
            <a:r>
              <a:rPr lang="en-US" sz="2000" u="none" strike="noStrike" dirty="0">
                <a:effectLst/>
                <a:latin typeface="Arial" panose="020B0604020202020204" pitchFamily="34" charset="0"/>
                <a:ea typeface="Arial" panose="020B0604020202020204" pitchFamily="34" charset="0"/>
              </a:rPr>
              <a:t>&amp;</a:t>
            </a:r>
            <a:r>
              <a:rPr lang="en-GB" sz="2000" b="1" u="none" strike="noStrike" dirty="0">
                <a:effectLst/>
                <a:latin typeface="Arial" panose="020B0604020202020204" pitchFamily="34" charset="0"/>
                <a:ea typeface="Arial" panose="020B0604020202020204" pitchFamily="34" charset="0"/>
              </a:rPr>
              <a:t> Create a filter 'active </a:t>
            </a:r>
            <a:r>
              <a:rPr lang="en-GB" sz="2000" b="1" u="none" strike="noStrike" dirty="0" err="1">
                <a:effectLst/>
                <a:latin typeface="Arial" panose="020B0604020202020204" pitchFamily="34" charset="0"/>
                <a:ea typeface="Arial" panose="020B0604020202020204" pitchFamily="34" charset="0"/>
              </a:rPr>
              <a:t>true,category</a:t>
            </a:r>
            <a:r>
              <a:rPr lang="en-GB" sz="2000" b="1" u="none" strike="noStrike" dirty="0">
                <a:effectLst/>
                <a:latin typeface="Arial" panose="020B0604020202020204" pitchFamily="34" charset="0"/>
                <a:ea typeface="Arial" panose="020B0604020202020204" pitchFamily="34" charset="0"/>
              </a:rPr>
              <a:t> </a:t>
            </a:r>
            <a:r>
              <a:rPr lang="en-GB" sz="2000" b="1" u="none" strike="noStrike" dirty="0" err="1">
                <a:effectLst/>
                <a:latin typeface="Arial" panose="020B0604020202020204" pitchFamily="34" charset="0"/>
                <a:ea typeface="Arial" panose="020B0604020202020204" pitchFamily="34" charset="0"/>
              </a:rPr>
              <a:t>network,state</a:t>
            </a:r>
            <a:r>
              <a:rPr lang="en-GB" sz="2000" b="1" u="none" strike="noStrike" dirty="0">
                <a:effectLst/>
                <a:latin typeface="Arial" panose="020B0604020202020204" pitchFamily="34" charset="0"/>
                <a:ea typeface="Arial" panose="020B0604020202020204" pitchFamily="34" charset="0"/>
              </a:rPr>
              <a:t> new. and make it visible to everyone</a:t>
            </a:r>
            <a:endParaRPr lang="en-US" sz="2000" dirty="0"/>
          </a:p>
        </p:txBody>
      </p:sp>
      <p:pic>
        <p:nvPicPr>
          <p:cNvPr id="5" name="Content Placeholder 4">
            <a:extLst>
              <a:ext uri="{FF2B5EF4-FFF2-40B4-BE49-F238E27FC236}">
                <a16:creationId xmlns:a16="http://schemas.microsoft.com/office/drawing/2014/main" id="{D9474DC1-9838-4FD3-8EC0-6D75CDC6965E}"/>
              </a:ext>
            </a:extLst>
          </p:cNvPr>
          <p:cNvPicPr>
            <a:picLocks noGrp="1" noChangeAspect="1"/>
          </p:cNvPicPr>
          <p:nvPr>
            <p:ph idx="1"/>
          </p:nvPr>
        </p:nvPicPr>
        <p:blipFill>
          <a:blip r:embed="rId2"/>
          <a:stretch>
            <a:fillRect/>
          </a:stretch>
        </p:blipFill>
        <p:spPr>
          <a:xfrm>
            <a:off x="757519" y="1188664"/>
            <a:ext cx="10515600" cy="2602464"/>
          </a:xfrm>
        </p:spPr>
      </p:pic>
      <p:pic>
        <p:nvPicPr>
          <p:cNvPr id="7" name="Picture 6">
            <a:extLst>
              <a:ext uri="{FF2B5EF4-FFF2-40B4-BE49-F238E27FC236}">
                <a16:creationId xmlns:a16="http://schemas.microsoft.com/office/drawing/2014/main" id="{FDEAFB6A-EBE6-4942-A359-9904E11FC3C7}"/>
              </a:ext>
            </a:extLst>
          </p:cNvPr>
          <p:cNvPicPr>
            <a:picLocks noChangeAspect="1"/>
          </p:cNvPicPr>
          <p:nvPr/>
        </p:nvPicPr>
        <p:blipFill>
          <a:blip r:embed="rId3"/>
          <a:stretch>
            <a:fillRect/>
          </a:stretch>
        </p:blipFill>
        <p:spPr>
          <a:xfrm>
            <a:off x="1568823" y="4045092"/>
            <a:ext cx="7888941" cy="2447783"/>
          </a:xfrm>
          <a:prstGeom prst="rect">
            <a:avLst/>
          </a:prstGeom>
        </p:spPr>
      </p:pic>
    </p:spTree>
    <p:extLst>
      <p:ext uri="{BB962C8B-B14F-4D97-AF65-F5344CB8AC3E}">
        <p14:creationId xmlns:p14="http://schemas.microsoft.com/office/powerpoint/2010/main" val="362751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D4B72-8647-4447-8291-73DC178D2DC3}"/>
              </a:ext>
            </a:extLst>
          </p:cNvPr>
          <p:cNvSpPr>
            <a:spLocks noGrp="1"/>
          </p:cNvSpPr>
          <p:nvPr>
            <p:ph type="title"/>
          </p:nvPr>
        </p:nvSpPr>
        <p:spPr/>
        <p:txBody>
          <a:bodyPr>
            <a:normAutofit fontScale="90000"/>
          </a:bodyPr>
          <a:lstStyle/>
          <a:p>
            <a:r>
              <a:rPr lang="en-GB" sz="1800" b="1" dirty="0">
                <a:effectLst/>
                <a:latin typeface="Arial" panose="020B0604020202020204" pitchFamily="34" charset="0"/>
                <a:ea typeface="Arial" panose="020B0604020202020204" pitchFamily="34" charset="0"/>
              </a:rPr>
              <a:t>1 Observe the dictionary override functionality parent finance case and child finance case mandatory </a:t>
            </a:r>
            <a:br>
              <a:rPr lang="en-GB" sz="1800" b="1" dirty="0">
                <a:effectLst/>
                <a:latin typeface="Arial" panose="020B0604020202020204" pitchFamily="34" charset="0"/>
                <a:ea typeface="Arial" panose="020B0604020202020204" pitchFamily="34" charset="0"/>
              </a:rPr>
            </a:br>
            <a:r>
              <a:rPr lang="en-GB" sz="1800" b="1" dirty="0">
                <a:effectLst/>
                <a:latin typeface="Arial" panose="020B0604020202020204" pitchFamily="34" charset="0"/>
                <a:ea typeface="Arial" panose="020B0604020202020204" pitchFamily="34" charset="0"/>
              </a:rPr>
              <a:t>2 </a:t>
            </a:r>
            <a:r>
              <a:rPr lang="en-GB" sz="2000" b="1" u="none" strike="noStrike" dirty="0">
                <a:effectLst/>
                <a:latin typeface="Arial" panose="020B0604020202020204" pitchFamily="34" charset="0"/>
                <a:ea typeface="Arial" panose="020B0604020202020204" pitchFamily="34" charset="0"/>
              </a:rPr>
              <a:t>Create a table by unchecking the create module checkbox and observe the functionality</a:t>
            </a:r>
            <a:br>
              <a:rPr lang="en-GB" sz="2000" b="1" u="none" strike="noStrike" dirty="0">
                <a:effectLst/>
                <a:latin typeface="Arial" panose="020B0604020202020204" pitchFamily="34" charset="0"/>
                <a:ea typeface="Arial" panose="020B0604020202020204" pitchFamily="34" charset="0"/>
              </a:rPr>
            </a:br>
            <a:r>
              <a:rPr lang="en-GB" sz="2000" b="1" u="none" strike="noStrike" dirty="0">
                <a:effectLst/>
                <a:latin typeface="Arial" panose="020B0604020202020204" pitchFamily="34" charset="0"/>
                <a:ea typeface="Arial" panose="020B0604020202020204" pitchFamily="34" charset="0"/>
              </a:rPr>
              <a:t>no modules tables accessed in 3ways</a:t>
            </a:r>
            <a:br>
              <a:rPr lang="en-GB" sz="2000" b="1" u="none" strike="noStrike" dirty="0">
                <a:effectLst/>
                <a:latin typeface="Arial" panose="020B0604020202020204" pitchFamily="34" charset="0"/>
                <a:ea typeface="Arial" panose="020B0604020202020204" pitchFamily="34" charset="0"/>
              </a:rPr>
            </a:br>
            <a:r>
              <a:rPr lang="en-GB" sz="2000" b="1" u="none" strike="noStrike" dirty="0">
                <a:effectLst/>
                <a:latin typeface="Arial" panose="020B0604020202020204" pitchFamily="34" charset="0"/>
                <a:ea typeface="Arial" panose="020B0604020202020204" pitchFamily="34" charset="0"/>
              </a:rPr>
              <a:t>1 custom </a:t>
            </a:r>
            <a:r>
              <a:rPr lang="en-GB" sz="2000" b="1" u="none" strike="noStrike" dirty="0" err="1">
                <a:effectLst/>
                <a:latin typeface="Arial" panose="020B0604020202020204" pitchFamily="34" charset="0"/>
                <a:ea typeface="Arial" panose="020B0604020202020204" pitchFamily="34" charset="0"/>
              </a:rPr>
              <a:t>table.list</a:t>
            </a:r>
            <a:br>
              <a:rPr lang="en-GB" sz="2000" b="1" u="none" strike="noStrike" dirty="0">
                <a:effectLst/>
                <a:latin typeface="Arial" panose="020B0604020202020204" pitchFamily="34" charset="0"/>
                <a:ea typeface="Arial" panose="020B0604020202020204" pitchFamily="34" charset="0"/>
              </a:rPr>
            </a:br>
            <a:r>
              <a:rPr lang="en-GB" sz="2000" b="1" u="none" strike="noStrike" dirty="0">
                <a:effectLst/>
                <a:latin typeface="Arial" panose="020B0604020202020204" pitchFamily="34" charset="0"/>
                <a:ea typeface="Arial" panose="020B0604020202020204" pitchFamily="34" charset="0"/>
              </a:rPr>
              <a:t>2.direct url-/customtable</a:t>
            </a:r>
            <a:r>
              <a:rPr lang="en-GB" sz="2000" b="1" dirty="0">
                <a:latin typeface="Arial" panose="020B0604020202020204" pitchFamily="34" charset="0"/>
                <a:ea typeface="Arial" panose="020B0604020202020204" pitchFamily="34" charset="0"/>
              </a:rPr>
              <a:t>_list.do</a:t>
            </a:r>
            <a:br>
              <a:rPr lang="en-GB" sz="2000" b="1" dirty="0">
                <a:latin typeface="Arial" panose="020B0604020202020204" pitchFamily="34" charset="0"/>
                <a:ea typeface="Arial" panose="020B0604020202020204" pitchFamily="34" charset="0"/>
              </a:rPr>
            </a:br>
            <a:r>
              <a:rPr lang="en-GB" sz="2000" b="1" dirty="0">
                <a:latin typeface="Arial" panose="020B0604020202020204" pitchFamily="34" charset="0"/>
                <a:ea typeface="Arial" panose="020B0604020202020204" pitchFamily="34" charset="0"/>
              </a:rPr>
              <a:t>3.tables-&gt;open list</a:t>
            </a:r>
            <a:br>
              <a:rPr lang="en-GB" sz="2000" b="1" dirty="0">
                <a:latin typeface="Arial" panose="020B0604020202020204" pitchFamily="34" charset="0"/>
                <a:ea typeface="Arial" panose="020B0604020202020204" pitchFamily="34" charset="0"/>
              </a:rPr>
            </a:br>
            <a:r>
              <a:rPr lang="en-GB" sz="2000" b="1" dirty="0">
                <a:latin typeface="Arial" panose="020B0604020202020204" pitchFamily="34" charset="0"/>
                <a:ea typeface="Arial" panose="020B0604020202020204" pitchFamily="34" charset="0"/>
              </a:rPr>
              <a:t>4</a:t>
            </a:r>
            <a:r>
              <a:rPr lang="en-GB" sz="1800" b="1" dirty="0">
                <a:effectLst/>
                <a:latin typeface="Arial" panose="020B0604020202020204" pitchFamily="34" charset="0"/>
                <a:ea typeface="Arial" panose="020B0604020202020204" pitchFamily="34" charset="0"/>
              </a:rPr>
              <a:t>String,reference,choice,list,image,url,wiki,date,date/</a:t>
            </a:r>
            <a:r>
              <a:rPr lang="en-GB" sz="1800" b="1" dirty="0" err="1">
                <a:effectLst/>
                <a:latin typeface="Arial" panose="020B0604020202020204" pitchFamily="34" charset="0"/>
                <a:ea typeface="Arial" panose="020B0604020202020204" pitchFamily="34" charset="0"/>
              </a:rPr>
              <a:t>time,true</a:t>
            </a:r>
            <a:r>
              <a:rPr lang="en-GB" sz="1800" b="1" dirty="0">
                <a:effectLst/>
                <a:latin typeface="Arial" panose="020B0604020202020204" pitchFamily="34" charset="0"/>
                <a:ea typeface="Arial" panose="020B0604020202020204" pitchFamily="34" charset="0"/>
              </a:rPr>
              <a:t>/</a:t>
            </a:r>
            <a:r>
              <a:rPr lang="en-GB" sz="1800" b="1" dirty="0" err="1">
                <a:effectLst/>
                <a:latin typeface="Arial" panose="020B0604020202020204" pitchFamily="34" charset="0"/>
                <a:ea typeface="Arial" panose="020B0604020202020204" pitchFamily="34" charset="0"/>
              </a:rPr>
              <a:t>false,currency</a:t>
            </a:r>
            <a:r>
              <a:rPr lang="en-GB" sz="1800" b="1" dirty="0">
                <a:effectLst/>
                <a:latin typeface="Arial" panose="020B0604020202020204" pitchFamily="34" charset="0"/>
                <a:ea typeface="Arial" panose="020B0604020202020204" pitchFamily="34" charset="0"/>
              </a:rPr>
              <a:t> –</a:t>
            </a:r>
            <a:r>
              <a:rPr lang="en-GB" sz="1800" b="1" dirty="0" err="1">
                <a:effectLst/>
                <a:latin typeface="Arial" panose="020B0604020202020204" pitchFamily="34" charset="0"/>
                <a:ea typeface="Arial" panose="020B0604020202020204" pitchFamily="34" charset="0"/>
              </a:rPr>
              <a:t>columns,form</a:t>
            </a:r>
            <a:r>
              <a:rPr lang="en-GB" sz="1800" b="1" dirty="0">
                <a:effectLst/>
                <a:latin typeface="Arial" panose="020B0604020202020204" pitchFamily="34" charset="0"/>
                <a:ea typeface="Arial" panose="020B0604020202020204" pitchFamily="34" charset="0"/>
              </a:rPr>
              <a:t> </a:t>
            </a:r>
            <a:r>
              <a:rPr lang="en-GB" sz="1800" b="1" dirty="0" err="1">
                <a:effectLst/>
                <a:latin typeface="Arial" panose="020B0604020202020204" pitchFamily="34" charset="0"/>
                <a:ea typeface="Arial" panose="020B0604020202020204" pitchFamily="34" charset="0"/>
              </a:rPr>
              <a:t>designer,dictionary</a:t>
            </a:r>
            <a:endParaRPr lang="en-US" dirty="0"/>
          </a:p>
        </p:txBody>
      </p:sp>
      <p:pic>
        <p:nvPicPr>
          <p:cNvPr id="5" name="Content Placeholder 4">
            <a:extLst>
              <a:ext uri="{FF2B5EF4-FFF2-40B4-BE49-F238E27FC236}">
                <a16:creationId xmlns:a16="http://schemas.microsoft.com/office/drawing/2014/main" id="{94D95E14-749B-467B-96BC-2D5CAC4FE6B9}"/>
              </a:ext>
            </a:extLst>
          </p:cNvPr>
          <p:cNvPicPr>
            <a:picLocks noGrp="1" noChangeAspect="1"/>
          </p:cNvPicPr>
          <p:nvPr>
            <p:ph idx="1"/>
          </p:nvPr>
        </p:nvPicPr>
        <p:blipFill>
          <a:blip r:embed="rId2"/>
          <a:stretch>
            <a:fillRect/>
          </a:stretch>
        </p:blipFill>
        <p:spPr>
          <a:xfrm>
            <a:off x="389423" y="2425794"/>
            <a:ext cx="5853592" cy="2152056"/>
          </a:xfrm>
        </p:spPr>
      </p:pic>
      <p:pic>
        <p:nvPicPr>
          <p:cNvPr id="7" name="Picture 6">
            <a:extLst>
              <a:ext uri="{FF2B5EF4-FFF2-40B4-BE49-F238E27FC236}">
                <a16:creationId xmlns:a16="http://schemas.microsoft.com/office/drawing/2014/main" id="{3FB4D84C-FE5E-49A9-8744-F941B1B26D8C}"/>
              </a:ext>
            </a:extLst>
          </p:cNvPr>
          <p:cNvPicPr>
            <a:picLocks noChangeAspect="1"/>
          </p:cNvPicPr>
          <p:nvPr/>
        </p:nvPicPr>
        <p:blipFill>
          <a:blip r:embed="rId3"/>
          <a:stretch>
            <a:fillRect/>
          </a:stretch>
        </p:blipFill>
        <p:spPr>
          <a:xfrm>
            <a:off x="6677262" y="2425794"/>
            <a:ext cx="5304609" cy="2051289"/>
          </a:xfrm>
          <a:prstGeom prst="rect">
            <a:avLst/>
          </a:prstGeom>
        </p:spPr>
      </p:pic>
      <p:pic>
        <p:nvPicPr>
          <p:cNvPr id="10" name="Picture 9">
            <a:extLst>
              <a:ext uri="{FF2B5EF4-FFF2-40B4-BE49-F238E27FC236}">
                <a16:creationId xmlns:a16="http://schemas.microsoft.com/office/drawing/2014/main" id="{A9D1F81C-D08C-4CA7-91EC-FD83D3161DC8}"/>
              </a:ext>
            </a:extLst>
          </p:cNvPr>
          <p:cNvPicPr>
            <a:picLocks noChangeAspect="1"/>
          </p:cNvPicPr>
          <p:nvPr/>
        </p:nvPicPr>
        <p:blipFill>
          <a:blip r:embed="rId4"/>
          <a:stretch>
            <a:fillRect/>
          </a:stretch>
        </p:blipFill>
        <p:spPr>
          <a:xfrm>
            <a:off x="959223" y="4577850"/>
            <a:ext cx="9359153" cy="1943862"/>
          </a:xfrm>
          <a:prstGeom prst="rect">
            <a:avLst/>
          </a:prstGeom>
        </p:spPr>
      </p:pic>
    </p:spTree>
    <p:extLst>
      <p:ext uri="{BB962C8B-B14F-4D97-AF65-F5344CB8AC3E}">
        <p14:creationId xmlns:p14="http://schemas.microsoft.com/office/powerpoint/2010/main" val="2025236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164D4-9D2A-4C0E-986D-605610B3EED6}"/>
              </a:ext>
            </a:extLst>
          </p:cNvPr>
          <p:cNvSpPr>
            <a:spLocks noGrp="1"/>
          </p:cNvSpPr>
          <p:nvPr>
            <p:ph type="title"/>
          </p:nvPr>
        </p:nvSpPr>
        <p:spPr/>
        <p:txBody>
          <a:bodyPr>
            <a:noAutofit/>
          </a:bodyPr>
          <a:lstStyle/>
          <a:p>
            <a:pPr marL="342900" marR="0" lvl="0" indent="-342900">
              <a:lnSpc>
                <a:spcPct val="125000"/>
              </a:lnSpc>
              <a:spcBef>
                <a:spcPts val="0"/>
              </a:spcBef>
              <a:spcAft>
                <a:spcPts val="0"/>
              </a:spcAft>
            </a:pPr>
            <a:r>
              <a:rPr lang="en-GB" sz="1200" b="1" u="none" strike="noStrike" dirty="0">
                <a:effectLst/>
                <a:latin typeface="Arial" panose="020B0604020202020204" pitchFamily="34" charset="0"/>
                <a:ea typeface="Arial" panose="020B0604020202020204" pitchFamily="34" charset="0"/>
              </a:rPr>
              <a:t>Create one table named as Brillio Parent with (name(string-display-true),Phone(string-</a:t>
            </a:r>
            <a:r>
              <a:rPr lang="en-GB" sz="1200" b="1" u="none" strike="noStrike" dirty="0" err="1">
                <a:effectLst/>
                <a:latin typeface="Arial" panose="020B0604020202020204" pitchFamily="34" charset="0"/>
                <a:ea typeface="Arial" panose="020B0604020202020204" pitchFamily="34" charset="0"/>
              </a:rPr>
              <a:t>readonly</a:t>
            </a:r>
            <a:r>
              <a:rPr lang="en-GB" sz="1200" b="1" u="none" strike="noStrike" dirty="0">
                <a:effectLst/>
                <a:latin typeface="Arial" panose="020B0604020202020204" pitchFamily="34" charset="0"/>
                <a:ea typeface="Arial" panose="020B0604020202020204" pitchFamily="34" charset="0"/>
              </a:rPr>
              <a:t>),Manager(reference-user-mandatory),Email</a:t>
            </a:r>
            <a:br>
              <a:rPr lang="en-US" sz="1200" u="none" strike="noStrike" dirty="0">
                <a:effectLst/>
                <a:latin typeface="Arial" panose="020B0604020202020204" pitchFamily="34" charset="0"/>
                <a:ea typeface="Arial" panose="020B0604020202020204" pitchFamily="34" charset="0"/>
              </a:rPr>
            </a:br>
            <a:r>
              <a:rPr lang="en-GB" sz="1200" b="1" u="none" strike="noStrike" dirty="0">
                <a:effectLst/>
                <a:latin typeface="Arial" panose="020B0604020202020204" pitchFamily="34" charset="0"/>
                <a:ea typeface="Arial" panose="020B0604020202020204" pitchFamily="34" charset="0"/>
              </a:rPr>
              <a:t>create 2 child tables Brillio child1, Brillio child2, check the functionality by extending </a:t>
            </a:r>
            <a:r>
              <a:rPr lang="en-GB" sz="1200" b="1" u="none" strike="noStrike" dirty="0" err="1">
                <a:effectLst/>
                <a:latin typeface="Arial" panose="020B0604020202020204" pitchFamily="34" charset="0"/>
                <a:ea typeface="Arial" panose="020B0604020202020204" pitchFamily="34" charset="0"/>
              </a:rPr>
              <a:t>brillio</a:t>
            </a:r>
            <a:r>
              <a:rPr lang="en-GB" sz="1200" b="1" u="none" strike="noStrike" dirty="0">
                <a:effectLst/>
                <a:latin typeface="Arial" panose="020B0604020202020204" pitchFamily="34" charset="0"/>
                <a:ea typeface="Arial" panose="020B0604020202020204" pitchFamily="34" charset="0"/>
              </a:rPr>
              <a:t> parent.</a:t>
            </a:r>
            <a:br>
              <a:rPr lang="en-US" sz="1200" u="none" strike="noStrike" dirty="0">
                <a:effectLst/>
                <a:latin typeface="Arial" panose="020B0604020202020204" pitchFamily="34" charset="0"/>
                <a:ea typeface="Arial" panose="020B0604020202020204" pitchFamily="34" charset="0"/>
              </a:rPr>
            </a:br>
            <a:r>
              <a:rPr lang="en-GB" sz="1200" b="1" u="none" strike="noStrike" dirty="0">
                <a:effectLst/>
                <a:latin typeface="Arial" panose="020B0604020202020204" pitchFamily="34" charset="0"/>
                <a:ea typeface="Arial" panose="020B0604020202020204" pitchFamily="34" charset="0"/>
              </a:rPr>
              <a:t>Check the dictionary override functionality with above tables try to override read only, mandatory, display, default </a:t>
            </a:r>
            <a:r>
              <a:rPr lang="en-GB" sz="1200" b="1" u="none" strike="noStrike" dirty="0" err="1">
                <a:effectLst/>
                <a:latin typeface="Arial" panose="020B0604020202020204" pitchFamily="34" charset="0"/>
                <a:ea typeface="Arial" panose="020B0604020202020204" pitchFamily="34" charset="0"/>
              </a:rPr>
              <a:t>value,dependency</a:t>
            </a:r>
            <a:r>
              <a:rPr lang="en-GB" sz="1200" b="1" u="none" strike="noStrike" dirty="0">
                <a:effectLst/>
                <a:latin typeface="Arial" panose="020B0604020202020204" pitchFamily="34" charset="0"/>
                <a:ea typeface="Arial" panose="020B0604020202020204" pitchFamily="34" charset="0"/>
              </a:rPr>
              <a:t> values.</a:t>
            </a:r>
            <a:br>
              <a:rPr lang="en-US" sz="1200" u="none" strike="noStrike" dirty="0">
                <a:effectLst/>
                <a:latin typeface="Arial" panose="020B0604020202020204" pitchFamily="34" charset="0"/>
                <a:ea typeface="Arial" panose="020B0604020202020204" pitchFamily="34" charset="0"/>
              </a:rPr>
            </a:br>
            <a:r>
              <a:rPr lang="en-GB" sz="1200" b="1" u="none" strike="noStrike" dirty="0">
                <a:effectLst/>
                <a:latin typeface="Arial" panose="020B0604020202020204" pitchFamily="34" charset="0"/>
                <a:ea typeface="Arial" panose="020B0604020202020204" pitchFamily="34" charset="0"/>
              </a:rPr>
              <a:t>Create related list of incident, problem, in the </a:t>
            </a:r>
            <a:r>
              <a:rPr lang="en-GB" sz="1200" b="1" u="none" strike="noStrike" dirty="0" err="1">
                <a:effectLst/>
                <a:latin typeface="Arial" panose="020B0604020202020204" pitchFamily="34" charset="0"/>
                <a:ea typeface="Arial" panose="020B0604020202020204" pitchFamily="34" charset="0"/>
              </a:rPr>
              <a:t>brillio</a:t>
            </a:r>
            <a:r>
              <a:rPr lang="en-GB" sz="1200" b="1" u="none" strike="noStrike" dirty="0">
                <a:effectLst/>
                <a:latin typeface="Arial" panose="020B0604020202020204" pitchFamily="34" charset="0"/>
                <a:ea typeface="Arial" panose="020B0604020202020204" pitchFamily="34" charset="0"/>
              </a:rPr>
              <a:t> parent table</a:t>
            </a:r>
            <a:br>
              <a:rPr lang="en-US" sz="1200" u="none" strike="noStrike" dirty="0">
                <a:effectLst/>
                <a:latin typeface="Arial" panose="020B0604020202020204" pitchFamily="34" charset="0"/>
                <a:ea typeface="Arial" panose="020B0604020202020204" pitchFamily="34" charset="0"/>
              </a:rPr>
            </a:br>
            <a:r>
              <a:rPr lang="en-GB" sz="1200" b="1" u="none" strike="noStrike" dirty="0">
                <a:effectLst/>
                <a:latin typeface="Arial" panose="020B0604020202020204" pitchFamily="34" charset="0"/>
                <a:ea typeface="Arial" panose="020B0604020202020204" pitchFamily="34" charset="0"/>
              </a:rPr>
              <a:t>Create an auto-number for </a:t>
            </a:r>
            <a:r>
              <a:rPr lang="en-GB" sz="1200" b="1" u="none" strike="noStrike" dirty="0" err="1">
                <a:effectLst/>
                <a:latin typeface="Arial" panose="020B0604020202020204" pitchFamily="34" charset="0"/>
                <a:ea typeface="Arial" panose="020B0604020202020204" pitchFamily="34" charset="0"/>
              </a:rPr>
              <a:t>brillio</a:t>
            </a:r>
            <a:r>
              <a:rPr lang="en-GB" sz="1200" b="1" u="none" strike="noStrike" dirty="0">
                <a:effectLst/>
                <a:latin typeface="Arial" panose="020B0604020202020204" pitchFamily="34" charset="0"/>
                <a:ea typeface="Arial" panose="020B0604020202020204" pitchFamily="34" charset="0"/>
              </a:rPr>
              <a:t> parent table .</a:t>
            </a:r>
            <a:br>
              <a:rPr lang="en-US" sz="1200" u="none" strike="noStrike" dirty="0">
                <a:effectLst/>
                <a:latin typeface="Arial" panose="020B0604020202020204" pitchFamily="34" charset="0"/>
                <a:ea typeface="Arial" panose="020B0604020202020204" pitchFamily="34" charset="0"/>
              </a:rPr>
            </a:br>
            <a:endParaRPr lang="en-US" sz="1200" dirty="0"/>
          </a:p>
        </p:txBody>
      </p:sp>
      <p:pic>
        <p:nvPicPr>
          <p:cNvPr id="5" name="Content Placeholder 4">
            <a:extLst>
              <a:ext uri="{FF2B5EF4-FFF2-40B4-BE49-F238E27FC236}">
                <a16:creationId xmlns:a16="http://schemas.microsoft.com/office/drawing/2014/main" id="{8A156939-C51B-4FC3-965F-C7C017E860B5}"/>
              </a:ext>
            </a:extLst>
          </p:cNvPr>
          <p:cNvPicPr>
            <a:picLocks noGrp="1" noChangeAspect="1"/>
          </p:cNvPicPr>
          <p:nvPr>
            <p:ph idx="1"/>
          </p:nvPr>
        </p:nvPicPr>
        <p:blipFill>
          <a:blip r:embed="rId2"/>
          <a:stretch>
            <a:fillRect/>
          </a:stretch>
        </p:blipFill>
        <p:spPr>
          <a:xfrm>
            <a:off x="420560" y="1905295"/>
            <a:ext cx="4402451" cy="1923514"/>
          </a:xfrm>
        </p:spPr>
      </p:pic>
      <p:pic>
        <p:nvPicPr>
          <p:cNvPr id="7" name="Picture 6">
            <a:extLst>
              <a:ext uri="{FF2B5EF4-FFF2-40B4-BE49-F238E27FC236}">
                <a16:creationId xmlns:a16="http://schemas.microsoft.com/office/drawing/2014/main" id="{3A55A221-DCD3-4BA7-952A-7666823F5584}"/>
              </a:ext>
            </a:extLst>
          </p:cNvPr>
          <p:cNvPicPr>
            <a:picLocks noChangeAspect="1"/>
          </p:cNvPicPr>
          <p:nvPr/>
        </p:nvPicPr>
        <p:blipFill>
          <a:blip r:embed="rId3"/>
          <a:stretch>
            <a:fillRect/>
          </a:stretch>
        </p:blipFill>
        <p:spPr>
          <a:xfrm>
            <a:off x="5803731" y="1596013"/>
            <a:ext cx="5196517" cy="1832987"/>
          </a:xfrm>
          <a:prstGeom prst="rect">
            <a:avLst/>
          </a:prstGeom>
        </p:spPr>
      </p:pic>
      <p:pic>
        <p:nvPicPr>
          <p:cNvPr id="9" name="Picture 8">
            <a:extLst>
              <a:ext uri="{FF2B5EF4-FFF2-40B4-BE49-F238E27FC236}">
                <a16:creationId xmlns:a16="http://schemas.microsoft.com/office/drawing/2014/main" id="{E72DFDC5-D9F0-4807-B436-0CA992610BDF}"/>
              </a:ext>
            </a:extLst>
          </p:cNvPr>
          <p:cNvPicPr>
            <a:picLocks noChangeAspect="1"/>
          </p:cNvPicPr>
          <p:nvPr/>
        </p:nvPicPr>
        <p:blipFill>
          <a:blip r:embed="rId4"/>
          <a:stretch>
            <a:fillRect/>
          </a:stretch>
        </p:blipFill>
        <p:spPr>
          <a:xfrm>
            <a:off x="300982" y="4043416"/>
            <a:ext cx="4522029" cy="1844512"/>
          </a:xfrm>
          <a:prstGeom prst="rect">
            <a:avLst/>
          </a:prstGeom>
        </p:spPr>
      </p:pic>
      <p:pic>
        <p:nvPicPr>
          <p:cNvPr id="11" name="Picture 10">
            <a:extLst>
              <a:ext uri="{FF2B5EF4-FFF2-40B4-BE49-F238E27FC236}">
                <a16:creationId xmlns:a16="http://schemas.microsoft.com/office/drawing/2014/main" id="{5B591CBE-C1B0-4D59-BEC9-49932999335E}"/>
              </a:ext>
            </a:extLst>
          </p:cNvPr>
          <p:cNvPicPr>
            <a:picLocks noChangeAspect="1"/>
          </p:cNvPicPr>
          <p:nvPr/>
        </p:nvPicPr>
        <p:blipFill>
          <a:blip r:embed="rId5"/>
          <a:stretch>
            <a:fillRect/>
          </a:stretch>
        </p:blipFill>
        <p:spPr>
          <a:xfrm>
            <a:off x="5706035" y="3648489"/>
            <a:ext cx="5647765" cy="2634365"/>
          </a:xfrm>
          <a:prstGeom prst="rect">
            <a:avLst/>
          </a:prstGeom>
        </p:spPr>
      </p:pic>
    </p:spTree>
    <p:extLst>
      <p:ext uri="{BB962C8B-B14F-4D97-AF65-F5344CB8AC3E}">
        <p14:creationId xmlns:p14="http://schemas.microsoft.com/office/powerpoint/2010/main" val="1351189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EA5AB-A08D-4583-8067-D01771523B35}"/>
              </a:ext>
            </a:extLst>
          </p:cNvPr>
          <p:cNvSpPr>
            <a:spLocks noGrp="1"/>
          </p:cNvSpPr>
          <p:nvPr>
            <p:ph type="title"/>
          </p:nvPr>
        </p:nvSpPr>
        <p:spPr>
          <a:xfrm>
            <a:off x="439271" y="268941"/>
            <a:ext cx="11098305" cy="2106706"/>
          </a:xfrm>
        </p:spPr>
        <p:txBody>
          <a:bodyPr>
            <a:normAutofit fontScale="90000"/>
          </a:bodyPr>
          <a:lstStyle/>
          <a:p>
            <a:pPr marL="342900" marR="0" lvl="0" indent="-342900">
              <a:lnSpc>
                <a:spcPct val="125000"/>
              </a:lnSpc>
              <a:spcBef>
                <a:spcPts val="0"/>
              </a:spcBef>
              <a:spcAft>
                <a:spcPts val="0"/>
              </a:spcAft>
            </a:pPr>
            <a:r>
              <a:rPr lang="en-GB" sz="1800" b="1" u="none" strike="noStrike" dirty="0">
                <a:effectLst/>
                <a:latin typeface="Arial" panose="020B0604020202020204" pitchFamily="34" charset="0"/>
                <a:ea typeface="Arial" panose="020B0604020202020204" pitchFamily="34" charset="0"/>
              </a:rPr>
              <a:t>1. </a:t>
            </a:r>
            <a:r>
              <a:rPr lang="en-GB" sz="900" b="1" u="none" strike="noStrike" dirty="0">
                <a:effectLst/>
                <a:latin typeface="Arial" panose="020B0604020202020204" pitchFamily="34" charset="0"/>
                <a:ea typeface="Arial" panose="020B0604020202020204" pitchFamily="34" charset="0"/>
              </a:rPr>
              <a:t>Create one table named as Wipro students with columns:</a:t>
            </a:r>
            <a:br>
              <a:rPr lang="en-US" sz="900" u="none" strike="noStrike" dirty="0">
                <a:effectLst/>
                <a:latin typeface="Arial" panose="020B0604020202020204" pitchFamily="34" charset="0"/>
                <a:ea typeface="Arial" panose="020B0604020202020204" pitchFamily="34" charset="0"/>
              </a:rPr>
            </a:br>
            <a:r>
              <a:rPr lang="en-GB" sz="900" b="1" u="none" strike="noStrike" dirty="0">
                <a:effectLst/>
                <a:latin typeface="Arial" panose="020B0604020202020204" pitchFamily="34" charset="0"/>
                <a:ea typeface="Arial" panose="020B0604020202020204" pitchFamily="34" charset="0"/>
              </a:rPr>
              <a:t>Name(string),Phone(string),Email(string),Qualification(Choice).</a:t>
            </a:r>
            <a:br>
              <a:rPr lang="en-US" sz="900" u="none" strike="noStrike" dirty="0">
                <a:effectLst/>
                <a:latin typeface="Arial" panose="020B0604020202020204" pitchFamily="34" charset="0"/>
                <a:ea typeface="Arial" panose="020B0604020202020204" pitchFamily="34" charset="0"/>
              </a:rPr>
            </a:br>
            <a:r>
              <a:rPr lang="en-GB" sz="900" b="1" u="none" strike="noStrike" dirty="0">
                <a:effectLst/>
                <a:latin typeface="Arial" panose="020B0604020202020204" pitchFamily="34" charset="0"/>
                <a:ea typeface="Arial" panose="020B0604020202020204" pitchFamily="34" charset="0"/>
              </a:rPr>
              <a:t>Create 2 user accounts (Sai , </a:t>
            </a:r>
            <a:r>
              <a:rPr lang="en-GB" sz="900" b="1" u="none" strike="noStrike" dirty="0" err="1">
                <a:effectLst/>
                <a:latin typeface="Arial" panose="020B0604020202020204" pitchFamily="34" charset="0"/>
                <a:ea typeface="Arial" panose="020B0604020202020204" pitchFamily="34" charset="0"/>
              </a:rPr>
              <a:t>Ramu</a:t>
            </a:r>
            <a:r>
              <a:rPr lang="en-GB" sz="900" b="1" u="none" strike="noStrike" dirty="0">
                <a:effectLst/>
                <a:latin typeface="Arial" panose="020B0604020202020204" pitchFamily="34" charset="0"/>
                <a:ea typeface="Arial" panose="020B0604020202020204" pitchFamily="34" charset="0"/>
              </a:rPr>
              <a:t>) and 2 Roles(internal, external). And add internal to Sai, external to </a:t>
            </a:r>
            <a:r>
              <a:rPr lang="en-GB" sz="900" b="1" u="none" strike="noStrike" dirty="0" err="1">
                <a:effectLst/>
                <a:latin typeface="Arial" panose="020B0604020202020204" pitchFamily="34" charset="0"/>
                <a:ea typeface="Arial" panose="020B0604020202020204" pitchFamily="34" charset="0"/>
              </a:rPr>
              <a:t>Ramu</a:t>
            </a:r>
            <a:r>
              <a:rPr lang="en-GB" sz="900" b="1" u="none" strike="noStrike" dirty="0">
                <a:effectLst/>
                <a:latin typeface="Arial" panose="020B0604020202020204" pitchFamily="34" charset="0"/>
                <a:ea typeface="Arial" panose="020B0604020202020204" pitchFamily="34" charset="0"/>
              </a:rPr>
              <a:t>, Create at least 15 records with your batch data.</a:t>
            </a:r>
            <a:br>
              <a:rPr lang="en-US" sz="900" u="none" strike="noStrike" dirty="0">
                <a:effectLst/>
                <a:latin typeface="Arial" panose="020B0604020202020204" pitchFamily="34" charset="0"/>
                <a:ea typeface="Arial" panose="020B0604020202020204" pitchFamily="34" charset="0"/>
              </a:rPr>
            </a:br>
            <a:r>
              <a:rPr lang="en-GB" sz="900" b="1" u="none" strike="noStrike" dirty="0">
                <a:effectLst/>
                <a:latin typeface="Arial" panose="020B0604020202020204" pitchFamily="34" charset="0"/>
                <a:ea typeface="Arial" panose="020B0604020202020204" pitchFamily="34" charset="0"/>
              </a:rPr>
              <a:t>2. Create a custom role named as ‘ServiceNow’, create all table level ACL to ServiceNow roles.</a:t>
            </a:r>
            <a:br>
              <a:rPr lang="en-US" sz="900" u="none" strike="noStrike" dirty="0">
                <a:effectLst/>
                <a:latin typeface="Arial" panose="020B0604020202020204" pitchFamily="34" charset="0"/>
                <a:ea typeface="Arial" panose="020B0604020202020204" pitchFamily="34" charset="0"/>
              </a:rPr>
            </a:br>
            <a:r>
              <a:rPr lang="en-GB" sz="900" b="1" u="none" strike="noStrike" dirty="0">
                <a:effectLst/>
                <a:latin typeface="Arial" panose="020B0604020202020204" pitchFamily="34" charset="0"/>
                <a:ea typeface="Arial" panose="020B0604020202020204" pitchFamily="34" charset="0"/>
              </a:rPr>
              <a:t>3. Provide this ‘ServiceNow’ role to Both </a:t>
            </a:r>
            <a:r>
              <a:rPr lang="en-GB" sz="900" b="1" u="none" strike="noStrike" dirty="0" err="1">
                <a:effectLst/>
                <a:latin typeface="Arial" panose="020B0604020202020204" pitchFamily="34" charset="0"/>
                <a:ea typeface="Arial" panose="020B0604020202020204" pitchFamily="34" charset="0"/>
              </a:rPr>
              <a:t>Ramu</a:t>
            </a:r>
            <a:r>
              <a:rPr lang="en-GB" sz="900" b="1" u="none" strike="noStrike" dirty="0">
                <a:effectLst/>
                <a:latin typeface="Arial" panose="020B0604020202020204" pitchFamily="34" charset="0"/>
                <a:ea typeface="Arial" panose="020B0604020202020204" pitchFamily="34" charset="0"/>
              </a:rPr>
              <a:t> and Sai.</a:t>
            </a:r>
            <a:br>
              <a:rPr lang="en-US" sz="900" u="none" strike="noStrike" dirty="0">
                <a:effectLst/>
                <a:latin typeface="Arial" panose="020B0604020202020204" pitchFamily="34" charset="0"/>
                <a:ea typeface="Arial" panose="020B0604020202020204" pitchFamily="34" charset="0"/>
              </a:rPr>
            </a:br>
            <a:r>
              <a:rPr lang="en-GB" sz="900" b="1" dirty="0">
                <a:effectLst/>
                <a:latin typeface="Arial" panose="020B0604020202020204" pitchFamily="34" charset="0"/>
                <a:ea typeface="Arial" panose="020B0604020202020204" pitchFamily="34" charset="0"/>
              </a:rPr>
              <a:t> </a:t>
            </a:r>
            <a:br>
              <a:rPr lang="en-US" sz="900" dirty="0">
                <a:effectLs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 Give All fields read access to internal role and Phone field read access to external role, Check what access </a:t>
            </a:r>
            <a:r>
              <a:rPr lang="en-GB" sz="900" b="1" u="none" strike="noStrike" dirty="0" err="1">
                <a:effectLst/>
                <a:highlight>
                  <a:srgbClr val="FFFF00"/>
                </a:highlight>
                <a:latin typeface="Arial" panose="020B0604020202020204" pitchFamily="34" charset="0"/>
                <a:ea typeface="Arial" panose="020B0604020202020204" pitchFamily="34" charset="0"/>
              </a:rPr>
              <a:t>Ramu</a:t>
            </a:r>
            <a:r>
              <a:rPr lang="en-GB" sz="900" b="1" u="none" strike="noStrike" dirty="0">
                <a:effectLst/>
                <a:highlight>
                  <a:srgbClr val="FFFF00"/>
                </a:highlight>
                <a:latin typeface="Arial" panose="020B0604020202020204" pitchFamily="34" charset="0"/>
                <a:ea typeface="Arial" panose="020B0604020202020204" pitchFamily="34" charset="0"/>
              </a:rPr>
              <a:t> will get , What access to Sai will get.</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Create one more user named shiva with XYZ role, Give write access to the name field. Check how </a:t>
            </a:r>
            <a:r>
              <a:rPr lang="en-GB" sz="900" b="1" u="none" strike="noStrike" dirty="0" err="1">
                <a:effectLst/>
                <a:highlight>
                  <a:srgbClr val="FFFF00"/>
                </a:highlight>
                <a:latin typeface="Arial" panose="020B0604020202020204" pitchFamily="34" charset="0"/>
                <a:ea typeface="Arial" panose="020B0604020202020204" pitchFamily="34" charset="0"/>
              </a:rPr>
              <a:t>sai</a:t>
            </a:r>
            <a:r>
              <a:rPr lang="en-GB" sz="900" b="1" u="none" strike="noStrike" dirty="0">
                <a:effectLst/>
                <a:highlight>
                  <a:srgbClr val="FFFF00"/>
                </a:highlight>
                <a:latin typeface="Arial" panose="020B0604020202020204" pitchFamily="34" charset="0"/>
                <a:ea typeface="Arial" panose="020B0604020202020204" pitchFamily="34" charset="0"/>
              </a:rPr>
              <a:t> and </a:t>
            </a:r>
            <a:r>
              <a:rPr lang="en-GB" sz="900" b="1" u="none" strike="noStrike" dirty="0" err="1">
                <a:effectLst/>
                <a:highlight>
                  <a:srgbClr val="FFFF00"/>
                </a:highlight>
                <a:latin typeface="Arial" panose="020B0604020202020204" pitchFamily="34" charset="0"/>
                <a:ea typeface="Arial" panose="020B0604020202020204" pitchFamily="34" charset="0"/>
              </a:rPr>
              <a:t>Ramu</a:t>
            </a:r>
            <a:r>
              <a:rPr lang="en-GB" sz="900" b="1" u="none" strike="noStrike" dirty="0">
                <a:effectLst/>
                <a:highlight>
                  <a:srgbClr val="FFFF00"/>
                </a:highlight>
                <a:latin typeface="Arial" panose="020B0604020202020204" pitchFamily="34" charset="0"/>
                <a:ea typeface="Arial" panose="020B0604020202020204" pitchFamily="34" charset="0"/>
              </a:rPr>
              <a:t> </a:t>
            </a:r>
            <a:r>
              <a:rPr lang="en-GB" sz="900" b="1" u="none" strike="noStrike" dirty="0" err="1">
                <a:effectLst/>
                <a:highlight>
                  <a:srgbClr val="FFFF00"/>
                </a:highlight>
                <a:latin typeface="Arial" panose="020B0604020202020204" pitchFamily="34" charset="0"/>
                <a:ea typeface="Arial" panose="020B0604020202020204" pitchFamily="34" charset="0"/>
              </a:rPr>
              <a:t>behavior</a:t>
            </a:r>
            <a:r>
              <a:rPr lang="en-GB" sz="900" b="1" u="none" strike="noStrike" dirty="0">
                <a:effectLst/>
                <a:highlight>
                  <a:srgbClr val="FFFF00"/>
                </a:highlight>
                <a:latin typeface="Arial" panose="020B0604020202020204" pitchFamily="34" charset="0"/>
                <a:ea typeface="Arial" panose="020B0604020202020204" pitchFamily="34" charset="0"/>
              </a:rPr>
              <a:t> changes on the name field.</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Check if we can add multiple roles in the same ACL.</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I want to ensure that </a:t>
            </a:r>
            <a:r>
              <a:rPr lang="en-GB" sz="900" b="1" u="none" strike="noStrike" dirty="0" err="1">
                <a:effectLst/>
                <a:highlight>
                  <a:srgbClr val="FFFF00"/>
                </a:highlight>
                <a:latin typeface="Arial" panose="020B0604020202020204" pitchFamily="34" charset="0"/>
                <a:ea typeface="Arial" panose="020B0604020202020204" pitchFamily="34" charset="0"/>
              </a:rPr>
              <a:t>Ramu</a:t>
            </a:r>
            <a:r>
              <a:rPr lang="en-GB" sz="900" b="1" u="none" strike="noStrike" dirty="0">
                <a:effectLst/>
                <a:highlight>
                  <a:srgbClr val="FFFF00"/>
                </a:highlight>
                <a:latin typeface="Arial" panose="020B0604020202020204" pitchFamily="34" charset="0"/>
                <a:ea typeface="Arial" panose="020B0604020202020204" pitchFamily="34" charset="0"/>
              </a:rPr>
              <a:t> can read only </a:t>
            </a:r>
            <a:r>
              <a:rPr lang="en-GB" sz="900" b="1" u="none" strike="noStrike" dirty="0" err="1">
                <a:effectLst/>
                <a:highlight>
                  <a:srgbClr val="FFFF00"/>
                </a:highlight>
                <a:latin typeface="Arial" panose="020B0604020202020204" pitchFamily="34" charset="0"/>
                <a:ea typeface="Arial" panose="020B0604020202020204" pitchFamily="34" charset="0"/>
              </a:rPr>
              <a:t>name,phone</a:t>
            </a:r>
            <a:r>
              <a:rPr lang="en-GB" sz="900" b="1" u="none" strike="noStrike" dirty="0">
                <a:effectLst/>
                <a:highlight>
                  <a:srgbClr val="FFFF00"/>
                </a:highlight>
                <a:latin typeface="Arial" panose="020B0604020202020204" pitchFamily="34" charset="0"/>
                <a:ea typeface="Arial" panose="020B0604020202020204" pitchFamily="34" charset="0"/>
              </a:rPr>
              <a:t>.</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I want to ensure Sai to read only qualification and Email fields.</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I want to give delete access only to the Sai.</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Give name field write access only to </a:t>
            </a:r>
            <a:r>
              <a:rPr lang="en-GB" sz="900" b="1" u="none" strike="noStrike" dirty="0" err="1">
                <a:effectLst/>
                <a:highlight>
                  <a:srgbClr val="FFFF00"/>
                </a:highlight>
                <a:latin typeface="Arial" panose="020B0604020202020204" pitchFamily="34" charset="0"/>
                <a:ea typeface="Arial" panose="020B0604020202020204" pitchFamily="34" charset="0"/>
              </a:rPr>
              <a:t>itil</a:t>
            </a:r>
            <a:r>
              <a:rPr lang="en-GB" sz="900" b="1" u="none" strike="noStrike" dirty="0">
                <a:effectLst/>
                <a:highlight>
                  <a:srgbClr val="FFFF00"/>
                </a:highlight>
                <a:latin typeface="Arial" panose="020B0604020202020204" pitchFamily="34" charset="0"/>
                <a:ea typeface="Arial" panose="020B0604020202020204" pitchFamily="34" charset="0"/>
              </a:rPr>
              <a:t>.</a:t>
            </a:r>
            <a:br>
              <a:rPr lang="en-US" sz="900" u="none" strike="noStrike" dirty="0">
                <a:effectLst/>
                <a:highlight>
                  <a:srgbClr val="FFFF00"/>
                </a:highlight>
                <a:latin typeface="Arial" panose="020B0604020202020204" pitchFamily="34" charset="0"/>
                <a:ea typeface="Arial" panose="020B0604020202020204" pitchFamily="34" charset="0"/>
              </a:rPr>
            </a:br>
            <a:r>
              <a:rPr lang="en-GB" sz="900" b="1" u="none" strike="noStrike" dirty="0">
                <a:effectLst/>
                <a:highlight>
                  <a:srgbClr val="FFFF00"/>
                </a:highlight>
                <a:latin typeface="Arial" panose="020B0604020202020204" pitchFamily="34" charset="0"/>
                <a:ea typeface="Arial" panose="020B0604020202020204" pitchFamily="34" charset="0"/>
              </a:rPr>
              <a:t>Prove application access and Table level access is different, By giving different roles table </a:t>
            </a:r>
            <a:r>
              <a:rPr lang="en-GB" sz="900" b="1" u="none" strike="noStrike" dirty="0" err="1">
                <a:effectLst/>
                <a:highlight>
                  <a:srgbClr val="FFFF00"/>
                </a:highlight>
                <a:latin typeface="Arial" panose="020B0604020202020204" pitchFamily="34" charset="0"/>
                <a:ea typeface="Arial" panose="020B0604020202020204" pitchFamily="34" charset="0"/>
              </a:rPr>
              <a:t>acl’s</a:t>
            </a:r>
            <a:r>
              <a:rPr lang="en-GB" sz="900" b="1" u="none" strike="noStrike" dirty="0">
                <a:effectLst/>
                <a:highlight>
                  <a:srgbClr val="FFFF00"/>
                </a:highlight>
                <a:latin typeface="Arial" panose="020B0604020202020204" pitchFamily="34" charset="0"/>
                <a:ea typeface="Arial" panose="020B0604020202020204" pitchFamily="34" charset="0"/>
              </a:rPr>
              <a:t> and application &amp; module.</a:t>
            </a:r>
            <a:br>
              <a:rPr lang="en-US" sz="900" u="none" strike="noStrike" dirty="0">
                <a:effectLst/>
                <a:highlight>
                  <a:srgbClr val="FFFF00"/>
                </a:highlight>
                <a:latin typeface="Arial" panose="020B0604020202020204" pitchFamily="34" charset="0"/>
                <a:ea typeface="Arial" panose="020B0604020202020204" pitchFamily="34" charset="0"/>
              </a:rPr>
            </a:br>
            <a:endParaRPr lang="en-US" sz="900" dirty="0">
              <a:highlight>
                <a:srgbClr val="FFFF00"/>
              </a:highlight>
            </a:endParaRPr>
          </a:p>
        </p:txBody>
      </p:sp>
      <p:pic>
        <p:nvPicPr>
          <p:cNvPr id="5" name="Content Placeholder 4">
            <a:extLst>
              <a:ext uri="{FF2B5EF4-FFF2-40B4-BE49-F238E27FC236}">
                <a16:creationId xmlns:a16="http://schemas.microsoft.com/office/drawing/2014/main" id="{AAE2A107-1138-4479-9A36-5B2E1FB9ACEE}"/>
              </a:ext>
            </a:extLst>
          </p:cNvPr>
          <p:cNvPicPr>
            <a:picLocks noGrp="1" noChangeAspect="1"/>
          </p:cNvPicPr>
          <p:nvPr>
            <p:ph idx="1"/>
          </p:nvPr>
        </p:nvPicPr>
        <p:blipFill>
          <a:blip r:embed="rId2"/>
          <a:stretch>
            <a:fillRect/>
          </a:stretch>
        </p:blipFill>
        <p:spPr>
          <a:xfrm>
            <a:off x="555907" y="2474260"/>
            <a:ext cx="4930494" cy="1595718"/>
          </a:xfrm>
        </p:spPr>
      </p:pic>
      <p:pic>
        <p:nvPicPr>
          <p:cNvPr id="7" name="Picture 6">
            <a:extLst>
              <a:ext uri="{FF2B5EF4-FFF2-40B4-BE49-F238E27FC236}">
                <a16:creationId xmlns:a16="http://schemas.microsoft.com/office/drawing/2014/main" id="{D32B127D-14F5-477D-9536-7C1F76C2F2DA}"/>
              </a:ext>
            </a:extLst>
          </p:cNvPr>
          <p:cNvPicPr>
            <a:picLocks noChangeAspect="1"/>
          </p:cNvPicPr>
          <p:nvPr/>
        </p:nvPicPr>
        <p:blipFill>
          <a:blip r:embed="rId3"/>
          <a:stretch>
            <a:fillRect/>
          </a:stretch>
        </p:blipFill>
        <p:spPr>
          <a:xfrm>
            <a:off x="6437688" y="2617694"/>
            <a:ext cx="5682594" cy="1174451"/>
          </a:xfrm>
          <a:prstGeom prst="rect">
            <a:avLst/>
          </a:prstGeom>
        </p:spPr>
      </p:pic>
      <p:pic>
        <p:nvPicPr>
          <p:cNvPr id="9" name="Picture 8">
            <a:extLst>
              <a:ext uri="{FF2B5EF4-FFF2-40B4-BE49-F238E27FC236}">
                <a16:creationId xmlns:a16="http://schemas.microsoft.com/office/drawing/2014/main" id="{834C7D15-1090-493E-9B99-7963B1874DBB}"/>
              </a:ext>
            </a:extLst>
          </p:cNvPr>
          <p:cNvPicPr>
            <a:picLocks noChangeAspect="1"/>
          </p:cNvPicPr>
          <p:nvPr/>
        </p:nvPicPr>
        <p:blipFill>
          <a:blip r:embed="rId4"/>
          <a:stretch>
            <a:fillRect/>
          </a:stretch>
        </p:blipFill>
        <p:spPr>
          <a:xfrm>
            <a:off x="6553201" y="3921121"/>
            <a:ext cx="3170436" cy="2667938"/>
          </a:xfrm>
          <a:prstGeom prst="rect">
            <a:avLst/>
          </a:prstGeom>
        </p:spPr>
      </p:pic>
      <p:pic>
        <p:nvPicPr>
          <p:cNvPr id="11" name="Picture 10">
            <a:extLst>
              <a:ext uri="{FF2B5EF4-FFF2-40B4-BE49-F238E27FC236}">
                <a16:creationId xmlns:a16="http://schemas.microsoft.com/office/drawing/2014/main" id="{EDA072D6-4754-49D5-B834-42C96C07C10B}"/>
              </a:ext>
            </a:extLst>
          </p:cNvPr>
          <p:cNvPicPr>
            <a:picLocks noChangeAspect="1"/>
          </p:cNvPicPr>
          <p:nvPr/>
        </p:nvPicPr>
        <p:blipFill>
          <a:blip r:embed="rId5"/>
          <a:stretch>
            <a:fillRect/>
          </a:stretch>
        </p:blipFill>
        <p:spPr>
          <a:xfrm>
            <a:off x="815935" y="4231341"/>
            <a:ext cx="4410438" cy="2357718"/>
          </a:xfrm>
          <a:prstGeom prst="rect">
            <a:avLst/>
          </a:prstGeom>
        </p:spPr>
      </p:pic>
    </p:spTree>
    <p:extLst>
      <p:ext uri="{BB962C8B-B14F-4D97-AF65-F5344CB8AC3E}">
        <p14:creationId xmlns:p14="http://schemas.microsoft.com/office/powerpoint/2010/main" val="28866890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TotalTime>
  <Words>1382</Words>
  <Application>Microsoft Office PowerPoint</Application>
  <PresentationFormat>Widescreen</PresentationFormat>
  <Paragraphs>76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Unicode MS</vt:lpstr>
      <vt:lpstr>Calibri</vt:lpstr>
      <vt:lpstr>Calibri Light</vt:lpstr>
      <vt:lpstr>Office Theme</vt:lpstr>
      <vt:lpstr>TECHTROOPS DAY2</vt:lpstr>
      <vt:lpstr>Tables &amp; Update sets:  </vt:lpstr>
      <vt:lpstr>PowerPoint Presentation</vt:lpstr>
      <vt:lpstr>ALL 56 field types of table </vt:lpstr>
      <vt:lpstr>Create table by Replicating Incident table  </vt:lpstr>
      <vt:lpstr>Create 2 custom tables to extend the other table  CUSTOM TABLE FINANCE CASE AND CHILD TABLES FINANCE CASE LOG AND FINANCE CASE LOG </vt:lpstr>
      <vt:lpstr>Observe the schema map of different tables. </vt:lpstr>
      <vt:lpstr>Create 2 choice fields: country,state add the choices and check the dependency. </vt:lpstr>
      <vt:lpstr>Check the dot walking for the caller and assigned to fields in the incident table </vt:lpstr>
      <vt:lpstr>Create a filter of software category records to visible software groups. &amp; Create a filter 'active true,category network,state new. and make it visible to everyone</vt:lpstr>
      <vt:lpstr>1 Observe the dictionary override functionality parent finance case and child finance case mandatory  2 Create a table by unchecking the create module checkbox and observe the functionality no modules tables accessed in 3ways 1 custom table.list 2.direct url-/customtable_list.do 3.tables-&gt;open list 4String,reference,choice,list,image,url,wiki,date,date/time,true/false,currency –columns,form designer,dictionary</vt:lpstr>
      <vt:lpstr>Create one table named as Brillio Parent with (name(string-display-true),Phone(string-readonly),Manager(reference-user-mandatory),Email create 2 child tables Brillio child1, Brillio child2, check the functionality by extending brillio parent. Check the dictionary override functionality with above tables try to override read only, mandatory, display, default value,dependency values. Create related list of incident, problem, in the brillio parent table Create an auto-number for brillio parent table . </vt:lpstr>
      <vt:lpstr>1. Create one table named as Wipro students with columns: Name(string),Phone(string),Email(string),Qualification(Choice). Create 2 user accounts (Sai , Ramu) and 2 Roles(internal, external). And add internal to Sai, external to Ramu, Create at least 15 records with your batch data. 2. Create a custom role named as ‘ServiceNow’, create all table level ACL to ServiceNow roles. 3. Provide this ‘ServiceNow’ role to Both Ramu and Sai.    Give All fields read access to internal role and Phone field read access to external role, Check what access Ramu will get , What access to Sai will get. Create one more user named shiva with XYZ role, Give write access to the name field. Check how sai and Ramu behavior changes on the name field. Check if we can add multiple roles in the same ACL. I want to ensure that Ramu can read only name,phone. I want to ensure Sai to read only qualification and Email fields. I want to give delete access only to the Sai. Give name field write access only to itil. Prove application access and Table level access is different, By giving different roles table acl’s and application &amp; module.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TECHTROOPS DAY2</dc:title>
  <dc:creator>Vinay Tanneru</dc:creator>
  <cp:lastModifiedBy>Vinay Tanneru</cp:lastModifiedBy>
  <cp:revision>23</cp:revision>
  <dcterms:created xsi:type="dcterms:W3CDTF">2026-05-19T03:55:37Z</dcterms:created>
  <dcterms:modified xsi:type="dcterms:W3CDTF">2026-05-19T12:48:32Z</dcterms:modified>
</cp:coreProperties>
</file>